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37f5121e49497e" /><Relationship Type="http://schemas.openxmlformats.org/officeDocument/2006/relationships/extended-properties" Target="/docProps/app.xml" Id="R92a996ff303d4344" /><Relationship Type="http://schemas.openxmlformats.org/officeDocument/2006/relationships/officeDocument" Target="/ppt/presentation.xml" Id="R8a4081d3b77f42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7cde3462d14a13"/>
  </p:sldMasterIdLst>
  <p:notesMasterIdLst>
    <p:notesMasterId xmlns:r="http://schemas.openxmlformats.org/officeDocument/2006/relationships" r:id="Rfaad9877df634459"/>
  </p:notesMasterIdLst>
  <p:sldIdLst>
    <p:sldId xmlns:r="http://schemas.openxmlformats.org/officeDocument/2006/relationships" id="256" r:id="Rab4d6c3ba7ae43b0"/>
    <p:sldId xmlns:r="http://schemas.openxmlformats.org/officeDocument/2006/relationships" id="257" r:id="R374c330692c34316"/>
    <p:sldId xmlns:r="http://schemas.openxmlformats.org/officeDocument/2006/relationships" id="258" r:id="R83724daa1cde4cc9"/>
    <p:sldId xmlns:r="http://schemas.openxmlformats.org/officeDocument/2006/relationships" id="259" r:id="R1315f94d6051499c"/>
    <p:sldId xmlns:r="http://schemas.openxmlformats.org/officeDocument/2006/relationships" id="260" r:id="Rdc4e3708611e430f"/>
    <p:sldId xmlns:r="http://schemas.openxmlformats.org/officeDocument/2006/relationships" id="261" r:id="R17eeae98158147d7"/>
    <p:sldId xmlns:r="http://schemas.openxmlformats.org/officeDocument/2006/relationships" id="262" r:id="R9b8446fd61954c07"/>
    <p:sldId xmlns:r="http://schemas.openxmlformats.org/officeDocument/2006/relationships" id="263" r:id="R7a80a0a24159466d"/>
    <p:sldId xmlns:r="http://schemas.openxmlformats.org/officeDocument/2006/relationships" id="264" r:id="R369e330f961646e0"/>
    <p:sldId xmlns:r="http://schemas.openxmlformats.org/officeDocument/2006/relationships" id="265" r:id="R496e3eab84434f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cde3462d14a13" /><Relationship Type="http://schemas.openxmlformats.org/officeDocument/2006/relationships/theme" Target="/ppt/theme/theme1.xml" Id="R3cb4308564dc42bc" /><Relationship Type="http://schemas.openxmlformats.org/officeDocument/2006/relationships/notesMaster" Target="/ppt/notesMasters/notesMaster1.xml" Id="Rfaad9877df634459" /><Relationship Type="http://schemas.openxmlformats.org/officeDocument/2006/relationships/presProps" Target="/ppt/presProps.xml" Id="Rfebfeff8c9e544ee" /><Relationship Type="http://schemas.openxmlformats.org/officeDocument/2006/relationships/viewProps" Target="/ppt/viewProps.xml" Id="R1e746664346e465c" /><Relationship Type="http://schemas.openxmlformats.org/officeDocument/2006/relationships/tableStyles" Target="/ppt/tableStyles.xml" Id="R466ada68d12b4f73" /><Relationship Type="http://schemas.openxmlformats.org/officeDocument/2006/relationships/slide" Target="/ppt/slides/slide1.xml" Id="Rab4d6c3ba7ae43b0" /><Relationship Type="http://schemas.openxmlformats.org/officeDocument/2006/relationships/slide" Target="/ppt/slides/slide2.xml" Id="R374c330692c34316" /><Relationship Type="http://schemas.openxmlformats.org/officeDocument/2006/relationships/slide" Target="/ppt/slides/slide3.xml" Id="R83724daa1cde4cc9" /><Relationship Type="http://schemas.openxmlformats.org/officeDocument/2006/relationships/slide" Target="/ppt/slides/slide4.xml" Id="R1315f94d6051499c" /><Relationship Type="http://schemas.openxmlformats.org/officeDocument/2006/relationships/slide" Target="/ppt/slides/slide5.xml" Id="Rdc4e3708611e430f" /><Relationship Type="http://schemas.openxmlformats.org/officeDocument/2006/relationships/slide" Target="/ppt/slides/slide6.xml" Id="R17eeae98158147d7" /><Relationship Type="http://schemas.openxmlformats.org/officeDocument/2006/relationships/slide" Target="/ppt/slides/slide7.xml" Id="R9b8446fd61954c07" /><Relationship Type="http://schemas.openxmlformats.org/officeDocument/2006/relationships/slide" Target="/ppt/slides/slide8.xml" Id="R7a80a0a24159466d" /><Relationship Type="http://schemas.openxmlformats.org/officeDocument/2006/relationships/slide" Target="/ppt/slides/slide9.xml" Id="R369e330f961646e0" /><Relationship Type="http://schemas.openxmlformats.org/officeDocument/2006/relationships/slide" Target="/ppt/slides/slide10.xml" Id="R496e3eab84434f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3352f23db6a4b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ce22f82e944ff4" /><Relationship Type="http://schemas.openxmlformats.org/officeDocument/2006/relationships/notesMaster" Target="/ppt/notesMasters/notesMaster1.xml" Id="R9179017013b341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9b821eadf24263" /><Relationship Type="http://schemas.openxmlformats.org/officeDocument/2006/relationships/notesMaster" Target="/ppt/notesMasters/notesMaster1.xml" Id="R1637b185501e4e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aeefd61a4d416e" /><Relationship Type="http://schemas.openxmlformats.org/officeDocument/2006/relationships/notesMaster" Target="/ppt/notesMasters/notesMaster1.xml" Id="Rc1b54064263246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d1638a799044a9" /><Relationship Type="http://schemas.openxmlformats.org/officeDocument/2006/relationships/notesMaster" Target="/ppt/notesMasters/notesMaster1.xml" Id="R01a483090a954a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40d80f782c480c" /><Relationship Type="http://schemas.openxmlformats.org/officeDocument/2006/relationships/notesMaster" Target="/ppt/notesMasters/notesMaster1.xml" Id="Rfced29843f544d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62b066fff7478b" /><Relationship Type="http://schemas.openxmlformats.org/officeDocument/2006/relationships/notesMaster" Target="/ppt/notesMasters/notesMaster1.xml" Id="R73f89f41951d42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551e6eb6bd48f8" /><Relationship Type="http://schemas.openxmlformats.org/officeDocument/2006/relationships/notesMaster" Target="/ppt/notesMasters/notesMaster1.xml" Id="R915989b2ccc24d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a30f4039804787" /><Relationship Type="http://schemas.openxmlformats.org/officeDocument/2006/relationships/notesMaster" Target="/ppt/notesMasters/notesMaster1.xml" Id="Rc68d9a453ccf49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a82b413c034981" /><Relationship Type="http://schemas.openxmlformats.org/officeDocument/2006/relationships/notesMaster" Target="/ppt/notesMasters/notesMaster1.xml" Id="Rad68921f79784e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ed14aea45140d8" /><Relationship Type="http://schemas.openxmlformats.org/officeDocument/2006/relationships/notesMaster" Target="/ppt/notesMasters/notesMaster1.xml" Id="Rccdfbe42116e48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0f908ab0b47a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4122b9aa9d4494e" /><Relationship Type="http://schemas.openxmlformats.org/officeDocument/2006/relationships/slideLayout" Target="/ppt/slideLayouts/slideLayout2.xml" Id="Refdfb7ab5a8544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fb7ab5a8544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001418bede4f16" /><Relationship Type="http://schemas.openxmlformats.org/officeDocument/2006/relationships/image" Target="/ppt/media/image.jpeg" Id="R720564c2fb6e4fa6" /><Relationship Type="http://schemas.openxmlformats.org/officeDocument/2006/relationships/notesSlide" Target="/ppt/notesSlides/notesSlide1.xml" Id="R40fff796ee6c4e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d13c00d71049d9" /><Relationship Type="http://schemas.openxmlformats.org/officeDocument/2006/relationships/notesSlide" Target="/ppt/notesSlides/notesSlide2.xml" Id="R7563ae5933a94c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5982ce3c944ccc" /><Relationship Type="http://schemas.openxmlformats.org/officeDocument/2006/relationships/notesSlide" Target="/ppt/notesSlides/notesSlide3.xml" Id="Rab4df889391842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2eaa332434453d" /><Relationship Type="http://schemas.openxmlformats.org/officeDocument/2006/relationships/image" Target="/ppt/media/image2.jpeg" Id="R2fd7f9ad6f3348a4" /><Relationship Type="http://schemas.openxmlformats.org/officeDocument/2006/relationships/notesSlide" Target="/ppt/notesSlides/notesSlide4.xml" Id="R16afe5b5ca2f4b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128a691cc9422f" /><Relationship Type="http://schemas.openxmlformats.org/officeDocument/2006/relationships/notesSlide" Target="/ppt/notesSlides/notesSlide5.xml" Id="R43b82467ae5145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5bf7a9cc5d4fb8" /><Relationship Type="http://schemas.openxmlformats.org/officeDocument/2006/relationships/notesSlide" Target="/ppt/notesSlides/notesSlide6.xml" Id="Rab595cb8cef641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40dd00c2654abd" /><Relationship Type="http://schemas.openxmlformats.org/officeDocument/2006/relationships/image" Target="/ppt/media/image3.jpeg" Id="R6ccd8f3daf2d4f37" /><Relationship Type="http://schemas.openxmlformats.org/officeDocument/2006/relationships/notesSlide" Target="/ppt/notesSlides/notesSlide7.xml" Id="Rb53a2dec606646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ba59a55d774fe1" /><Relationship Type="http://schemas.openxmlformats.org/officeDocument/2006/relationships/notesSlide" Target="/ppt/notesSlides/notesSlide8.xml" Id="R6aa4c2b87b3f4c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2e86387a2b4980" /><Relationship Type="http://schemas.openxmlformats.org/officeDocument/2006/relationships/notesSlide" Target="/ppt/notesSlides/notesSlide9.xml" Id="R4ea93baf74034c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88f353424e4b83" /><Relationship Type="http://schemas.openxmlformats.org/officeDocument/2006/relationships/notesSlide" Target="/ppt/notesSlides/notesSlide10.xml" Id="R1a0f3df8025a4b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564c2fb6e4fa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539E5-3C17-4E96-8EDF-F7CCD181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C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076ED-0FE2-49E5-B41F-871E4B69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BD59D-07C3-4844-A0C7-48D5BB8E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ГЛАВНАЯ ИДЕЯ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21374-F76A-4708-AB04-38A8F50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59055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0" i="0">
                <a:solidFill>
                  <a:srgbClr val="F8F2E8"/>
                </a:solidFill>
                <a:latin typeface="Georgia"/>
                <a:ea typeface="Georgia"/>
                <a:cs typeface="Georgia"/>
              </a:defRPr>
            </a:pPr>
            <a:r>
              <a:t>Сайт — это не витрина.</a:t>
            </a:r>
          </a:p>
          <a:p xmlns:a="http://schemas.openxmlformats.org/drawingml/2006/main">
            <a:pPr algn="l">
              <a:buNone/>
              <a:defRPr sz="3450" b="0" i="0">
                <a:solidFill>
                  <a:srgbClr val="F8F2E8"/>
                </a:solidFill>
                <a:latin typeface="Georgia"/>
                <a:ea typeface="Georgia"/>
                <a:cs typeface="Georgia"/>
              </a:defRPr>
            </a:pPr>
            <a:r>
              <a:t>Это система записи.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0FCF1-D0AD-40F6-9CF5-AD43D18C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715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E9E0D0"/>
                </a:solidFill>
                <a:latin typeface="Arial"/>
                <a:ea typeface="Arial"/>
                <a:cs typeface="Arial"/>
              </a:defRPr>
            </a:pPr>
            <a:r>
              <a:t>Для массажиста сайт должен работать как личный администратор: объяснять ценность, принимать заявки, брать оплату, синхронизировать календарь и возвращать клиента.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065E5-C851-4631-8280-1D11F3EC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390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16000"/>
            </a:srgbClr>
          </a:solidFill>
          <a:ln xmlns:a="http://schemas.openxmlformats.org/drawingml/2006/main" w="9525">
            <a:solidFill>
              <a:srgbClr val="C8A6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95A3F-0C9F-4F8D-8474-2122E10D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1085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доверие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C5C78-8644-4E2E-9C14-6922E442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95750"/>
            <a:ext cx="1390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16000"/>
            </a:srgbClr>
          </a:solidFill>
          <a:ln xmlns:a="http://schemas.openxmlformats.org/drawingml/2006/main" w="9525">
            <a:solidFill>
              <a:srgbClr val="C8A6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DF819-6C1B-4A9E-84BC-9889FE49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1085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запись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AC3DA-799F-4FB1-80CC-8A1B85B5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390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16000"/>
            </a:srgbClr>
          </a:solidFill>
          <a:ln xmlns:a="http://schemas.openxmlformats.org/drawingml/2006/main" w="9525">
            <a:solidFill>
              <a:srgbClr val="C8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7092D-1843-439E-8650-9AFF2DB5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81475"/>
            <a:ext cx="1085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оплата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D0EB7-19E7-4DB9-B3E4-CEAB5034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95750"/>
            <a:ext cx="1390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16000"/>
            </a:srgbClr>
          </a:solidFill>
          <a:ln xmlns:a="http://schemas.openxmlformats.org/drawingml/2006/main" w="9525">
            <a:solidFill>
              <a:srgbClr val="C8A6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D69FC-6D68-4719-BC42-998819E8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81475"/>
            <a:ext cx="1085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повторы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C315B-E009-4CA1-A70B-4C08D1C0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400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F8F2E8">
                    <a:alpha val="7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Стратегическая презентация для Жени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8A832-1A7B-4613-96CE-D1C196E8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5000"/>
            </a:srgbClr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65E2A-5B05-4436-9AFD-4C700589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Женя массажист / сайт как система записи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052B7-FB45-41C5-AA47-18CBEDD8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57925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55061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7F6DBA-DC2F-4656-9C80-D09AE53F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F38ED-7C6A-4CB1-9DBD-90917A38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601ED-B74C-4917-8F98-63212137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ПРОБЛЕМА КАНАЛОВ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560BE-EB4E-48C0-9A86-269AA807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0" i="0">
                <a:solidFill>
                  <a:srgbClr val="F8F2E8"/>
                </a:solidFill>
                <a:latin typeface="Georgia"/>
                <a:ea typeface="Georgia"/>
                <a:cs typeface="Georgia"/>
              </a:defRPr>
            </a:pPr>
            <a:r>
              <a:t>Соцсети дают внимание, но не дают контроля над записью.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E6F7C-5C70-4FA5-A635-592EE9B5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5429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E9E0D0"/>
                </a:solidFill>
                <a:latin typeface="Arial"/>
                <a:ea typeface="Arial"/>
                <a:cs typeface="Arial"/>
              </a:defRPr>
            </a:pPr>
            <a:r>
              <a:t>Когда Telegram проседает, а VK/OK не хочется развивать, нужен свой центр: место, куда ведут все касания и где клиент спокойно принимает решение.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CDD81-7314-46D0-9D29-10D1F357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7145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27C03-6AC9-4411-B3EB-FEBC04DE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Telegram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7C004-D4DA-4665-816E-B02C2D63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4807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72000"/>
            </a:srgbClr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23889-E612-4A0C-9D63-B999F4E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17145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924CB-99B5-47A0-98B9-6A165516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Сарафан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10C2D-32D5-44D4-90EE-F832A0AD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1007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72000"/>
            </a:srgbClr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81BFF-2DF1-438E-9334-511B99C8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17145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A8387-1EBF-443D-ABD3-54401214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Яндекс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35D3E-B44B-427F-BDE7-0551DD50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7207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72000"/>
            </a:srgbClr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5962A-C6D3-48E9-BF34-5DFF0A0E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7145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0B2F8-2D07-4BB3-9D6B-1C83B2E8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VK / 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119C2-521C-43E9-895A-83E6A176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3407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72000"/>
            </a:srgbClr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6B5DD-9950-4BC7-B083-950340A3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4095750" cy="3390900"/>
          </a:xfrm>
          <a:prstGeom xmlns:a="http://schemas.openxmlformats.org/drawingml/2006/main" prst="roundRect">
            <a:avLst>
              <a:gd name="adj" fmla="val 6180"/>
            </a:avLst>
          </a:prstGeom>
          <a:solidFill xmlns:a="http://schemas.openxmlformats.org/drawingml/2006/main">
            <a:srgbClr val="F8F2E8">
              <a:alpha val="10000"/>
            </a:srgbClr>
          </a:solidFill>
          <a:ln xmlns:a="http://schemas.openxmlformats.org/drawingml/2006/main" w="9525">
            <a:solidFill>
              <a:srgbClr val="C8A66A">
                <a:alpha val="4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B046C-3AB5-457E-A45C-07AC39FB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314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900" b="0" i="0">
                <a:solidFill>
                  <a:srgbClr val="C8A66A"/>
                </a:solidFill>
                <a:latin typeface="Georgia"/>
                <a:ea typeface="Georgia"/>
                <a:cs typeface="Georgia"/>
              </a:defRPr>
            </a:pPr>
            <a:r>
              <a:t>Сайт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18145-43D3-494F-A5F9-F739A9AB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81350"/>
            <a:ext cx="2971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личный центр доверия, записи и оплаты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88A26-C296-44E7-BC61-687FE799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52900"/>
            <a:ext cx="28765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7231C">
              <a:alpha val="64000"/>
            </a:srgbClr>
          </a:solidFill>
          <a:ln xmlns:a="http://schemas.openxmlformats.org/drawingml/2006/main" w="9525">
            <a:solidFill>
              <a:srgbClr val="F8F2E8">
                <a:alpha val="18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AD64AB-5037-4ACD-9B9A-1E2BACFA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62450"/>
            <a:ext cx="2419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Что меняется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D627DB-1928-436E-AB0A-8F176A6B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81550"/>
            <a:ext cx="2419350" cy="9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DFD4C3"/>
                </a:solidFill>
                <a:latin typeface="Arial"/>
                <a:ea typeface="Arial"/>
                <a:cs typeface="Arial"/>
              </a:defRPr>
            </a:pPr>
            <a:r>
              <a:t>Клиент больше не теряется в переписке. Он видит услуги, цену, время, оплату и понятный следующий шаг.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8B3FE9-F48E-47DD-A137-92F5EED3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5000"/>
            </a:srgbClr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7D6D2D-917A-4CA3-8AD9-B6E1D207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Женя массажист / сайт как система записи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F4EE94-51AA-434F-BFB2-B855DFB5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57925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48942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C126C2-5059-441F-B2DA-C9B02C7F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7CEFD-90D2-4A82-90ED-1530D8A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DB9DA-E593-47C3-A139-2176B56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КОНВЕРСИЯ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BFBA7-232E-4BB7-9DAB-233E2310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048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0" i="0">
                <a:solidFill>
                  <a:srgbClr val="F8F2E8"/>
                </a:solidFill>
                <a:latin typeface="Georgia"/>
                <a:ea typeface="Georgia"/>
                <a:cs typeface="Georgia"/>
              </a:defRPr>
            </a:pPr>
            <a:r>
              <a:t>Сайт превращает интерес в маршрут до записи.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9C31C-4B43-4ECD-86E5-A75E8772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715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E9E0D0"/>
                </a:solidFill>
                <a:latin typeface="Arial"/>
                <a:ea typeface="Arial"/>
                <a:cs typeface="Arial"/>
              </a:defRPr>
            </a:pPr>
            <a:r>
              <a:t>Главная задача — убрать лишние вопросы до того, как человек успел передумать.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B5150-1D2A-46D9-A449-D0D23B51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8C8B6"/>
                </a:solidFill>
                <a:latin typeface="Arial"/>
                <a:ea typeface="Arial"/>
                <a:cs typeface="Arial"/>
              </a:defRPr>
            </a:pPr>
            <a:r>
              <a:t>Как часто бывает сейчас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C11FB-D1D9-4CE0-8918-0F2E6676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8C8B6"/>
                </a:solidFill>
                <a:latin typeface="Arial"/>
                <a:ea typeface="Arial"/>
                <a:cs typeface="Arial"/>
              </a:defRPr>
            </a:pPr>
            <a:r>
              <a:t>Как должно работать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DEAD1-31FC-410E-9FE9-6F90B109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2E8">
              <a:alpha val="7000"/>
            </a:srgbClr>
          </a:solidFill>
          <a:ln xmlns:a="http://schemas.openxmlformats.org/drawingml/2006/main" w="9525">
            <a:solidFill>
              <a:srgbClr val="F8F2E8">
                <a:alpha val="1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A1CA7-F6AC-4E6D-A01C-FF7D73BD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57575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E7D7"/>
                </a:solidFill>
                <a:latin typeface="Arial"/>
                <a:ea typeface="Arial"/>
                <a:cs typeface="Arial"/>
              </a:defRPr>
            </a:pPr>
            <a:r>
              <a:t>Сообщение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5BB65-8C99-4528-B754-A622FE15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57575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DBEA9"/>
                </a:solidFill>
                <a:latin typeface="Arial"/>
                <a:ea typeface="Arial"/>
                <a:cs typeface="Arial"/>
              </a:defRPr>
            </a:pPr>
            <a:r>
              <a:t>клиент пишет в чат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1F365-4346-4FAA-AC0D-41C69502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2E8">
              <a:alpha val="7000"/>
            </a:srgbClr>
          </a:solidFill>
          <a:ln xmlns:a="http://schemas.openxmlformats.org/drawingml/2006/main" w="9525">
            <a:solidFill>
              <a:srgbClr val="F8F2E8">
                <a:alpha val="14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6308C-A6CD-4B5A-AFD7-9E9F20B6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0025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E7D7"/>
                </a:solidFill>
                <a:latin typeface="Arial"/>
                <a:ea typeface="Arial"/>
                <a:cs typeface="Arial"/>
              </a:defRPr>
            </a:pPr>
            <a:r>
              <a:t>Ожидание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16849-AE80-4C0D-8925-DC236761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10025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DBEA9"/>
                </a:solidFill>
                <a:latin typeface="Arial"/>
                <a:ea typeface="Arial"/>
                <a:cs typeface="Arial"/>
              </a:defRPr>
            </a:pPr>
            <a:r>
              <a:t>мастер занят на сеансе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A3F38-05DF-496D-AB67-15237A42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2E8">
              <a:alpha val="7000"/>
            </a:srgbClr>
          </a:solidFill>
          <a:ln xmlns:a="http://schemas.openxmlformats.org/drawingml/2006/main" w="9525">
            <a:solidFill>
              <a:srgbClr val="F8F2E8">
                <a:alpha val="14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9FEF9-6270-4605-B979-6168A9B7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62475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E7D7"/>
                </a:solidFill>
                <a:latin typeface="Arial"/>
                <a:ea typeface="Arial"/>
                <a:cs typeface="Arial"/>
              </a:defRPr>
            </a:pPr>
            <a:r>
              <a:t>Уточнения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5A85A-42A7-4124-BE4F-CCD72DE0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62475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DBEA9"/>
                </a:solidFill>
                <a:latin typeface="Arial"/>
                <a:ea typeface="Arial"/>
                <a:cs typeface="Arial"/>
              </a:defRPr>
            </a:pPr>
            <a:r>
              <a:t>цена, время, адрес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7EBB8-AE34-41FE-B299-FCEC5D37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2E8">
              <a:alpha val="7000"/>
            </a:srgbClr>
          </a:solidFill>
          <a:ln xmlns:a="http://schemas.openxmlformats.org/drawingml/2006/main" w="9525">
            <a:solidFill>
              <a:srgbClr val="F8F2E8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6C7B4-241A-4286-B89E-2F4D958F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4925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1E7D7"/>
                </a:solidFill>
                <a:latin typeface="Arial"/>
                <a:ea typeface="Arial"/>
                <a:cs typeface="Arial"/>
              </a:defRPr>
            </a:pPr>
            <a:r>
              <a:t>Потеря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EDBF0-8D31-4CBB-8224-7418591D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14925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DBEA9"/>
                </a:solidFill>
                <a:latin typeface="Arial"/>
                <a:ea typeface="Arial"/>
                <a:cs typeface="Arial"/>
              </a:defRPr>
            </a:pPr>
            <a:r>
              <a:t>клиент остывает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CD8B2-7B26-4BE1-9114-E36FA5D1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5280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A66A">
              <a:alpha val="16000"/>
            </a:srgbClr>
          </a:solidFill>
          <a:ln xmlns:a="http://schemas.openxmlformats.org/drawingml/2006/main" w="9525">
            <a:solidFill>
              <a:srgbClr val="C8A66A">
                <a:alpha val="42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7ED1D-EA69-40EA-91D2-B01A4EE0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57575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E6AE"/>
                </a:solidFill>
                <a:latin typeface="Arial"/>
                <a:ea typeface="Arial"/>
                <a:cs typeface="Arial"/>
              </a:defRPr>
            </a:pPr>
            <a:r>
              <a:t>Сайт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BF497-66A8-4A2C-8BCB-8CB7F0A8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57575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F5EBD9"/>
                </a:solidFill>
                <a:latin typeface="Arial"/>
                <a:ea typeface="Arial"/>
                <a:cs typeface="Arial"/>
              </a:defRPr>
            </a:pPr>
            <a:r>
              <a:t>видит предложение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58FCE-A893-433B-8028-CA7D2934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0525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A66A">
              <a:alpha val="16000"/>
            </a:srgbClr>
          </a:solidFill>
          <a:ln xmlns:a="http://schemas.openxmlformats.org/drawingml/2006/main" w="9525">
            <a:solidFill>
              <a:srgbClr val="C8A66A">
                <a:alpha val="4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9FC1A-E764-4FAB-A241-630F67F7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10025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E6AE"/>
                </a:solidFill>
                <a:latin typeface="Arial"/>
                <a:ea typeface="Arial"/>
                <a:cs typeface="Arial"/>
              </a:defRPr>
            </a:pPr>
            <a:r>
              <a:t>Услуга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2578A2-3529-42A9-B98E-DE1483F5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0025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F5EBD9"/>
                </a:solidFill>
                <a:latin typeface="Arial"/>
                <a:ea typeface="Arial"/>
                <a:cs typeface="Arial"/>
              </a:defRPr>
            </a:pPr>
            <a:r>
              <a:t>понимает цену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F8E1E-29CC-4220-AE82-C92149EC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5770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A66A">
              <a:alpha val="16000"/>
            </a:srgbClr>
          </a:solidFill>
          <a:ln xmlns:a="http://schemas.openxmlformats.org/drawingml/2006/main" w="9525">
            <a:solidFill>
              <a:srgbClr val="C8A66A">
                <a:alpha val="42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DE17A-4050-4FD5-A487-199D0BB5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62475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E6AE"/>
                </a:solidFill>
                <a:latin typeface="Arial"/>
                <a:ea typeface="Arial"/>
                <a:cs typeface="Arial"/>
              </a:defRPr>
            </a:pPr>
            <a:r>
              <a:t>Время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234601-CF55-4369-84B6-0C8AFF00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62475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F5EBD9"/>
                </a:solidFill>
                <a:latin typeface="Arial"/>
                <a:ea typeface="Arial"/>
                <a:cs typeface="Arial"/>
              </a:defRPr>
            </a:pPr>
            <a:r>
              <a:t>выбирает слот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149933-F79F-4982-ABD6-B8227FAB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015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A66A">
              <a:alpha val="16000"/>
            </a:srgbClr>
          </a:solidFill>
          <a:ln xmlns:a="http://schemas.openxmlformats.org/drawingml/2006/main" w="9525">
            <a:solidFill>
              <a:srgbClr val="C8A66A">
                <a:alpha val="42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EB664A-FF6E-4DDB-B0F4-9771DBCD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14925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E6AE"/>
                </a:solidFill>
                <a:latin typeface="Arial"/>
                <a:ea typeface="Arial"/>
                <a:cs typeface="Arial"/>
              </a:defRPr>
            </a:pPr>
            <a:r>
              <a:t>Оплата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986E38-481F-4660-91E0-13ECF88B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14925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F5EBD9"/>
                </a:solidFill>
                <a:latin typeface="Arial"/>
                <a:ea typeface="Arial"/>
                <a:cs typeface="Arial"/>
              </a:defRPr>
            </a:pPr>
            <a:r>
              <a:t>фиксирует запись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0600EF-848C-4961-AF81-5BF45875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33875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09CB73-D679-4249-97C3-4F182785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161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меньше ручной переписки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6778A5-6C13-4253-B569-5459B5D5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5000"/>
            </a:srgbClr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1E5A9D-C4A2-47CB-B68B-00CDDF9B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Женя массажист / сайт как система записи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66F66B-2CD4-44B2-8304-84127E32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57925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08688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7f9ad6f3348a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03B31-C754-474B-AA6F-75B61E67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5200650" cy="529590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7231C">
              <a:alpha val="70000"/>
            </a:srgbClr>
          </a:solidFill>
          <a:ln xmlns:a="http://schemas.openxmlformats.org/drawingml/2006/main" w="9525">
            <a:solidFill>
              <a:srgbClr val="F8F2E8">
                <a:alpha val="16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2402E-9E91-473E-B6D7-D1852D5D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B1B72-455A-48EF-A959-EC6B07C8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8191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РЕКЛАМА И ГЕО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F5266-9CF2-4489-9D17-C470B83D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95400"/>
            <a:ext cx="4000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0" i="0">
                <a:solidFill>
                  <a:srgbClr val="F8F2E8"/>
                </a:solidFill>
                <a:latin typeface="Georgia"/>
                <a:ea typeface="Georgia"/>
                <a:cs typeface="Georgia"/>
              </a:defRPr>
            </a:pPr>
            <a:r>
              <a:t>Реклама в Яндексе должна вести в запись.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6B8D5-8503-40E7-B9F1-863ED5C6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37338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E9E0D0"/>
                </a:solidFill>
                <a:latin typeface="Arial"/>
                <a:ea typeface="Arial"/>
                <a:cs typeface="Arial"/>
              </a:defRPr>
            </a:pPr>
            <a:r>
              <a:t>Поисковый спрос горячий: человек уже ищет массаж рядом. Сайт даёт рекламной системе понятную посадочную страницу, а клиенту — быстрый ответ.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7E96C-253C-4F0C-B72A-0156EE36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3695700" cy="1219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8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C51F7-F1B7-4C82-B9CD-E25D1867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Настройка под гео и нейросети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42FCA-6AE1-4BDA-A53D-4BBD8833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33950"/>
            <a:ext cx="3238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DFD4C3"/>
                </a:solidFill>
                <a:latin typeface="Arial"/>
                <a:ea typeface="Arial"/>
                <a:cs typeface="Arial"/>
              </a:defRPr>
            </a:pPr>
            <a:r>
              <a:t>Район, услуги, боли клиента, тексты объявлений и посадочная страница работают в одной логике.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CBFB0-4B2B-4E91-8FBF-2E7389E9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5000"/>
            </a:srgbClr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CB3D5-E8D5-4DA4-A8AA-C1814768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Женя массажист / сайт как система записи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BDB5E-478E-426A-9170-9CB9D13C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57925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965187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F35FE5-178E-4371-B700-557AEB7A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3319F-F955-40F8-9CFF-D78F4B70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D2DC2-6C94-4A9E-86C9-0320D31E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ОПЕРАЦИОННАЯ СИСТЕМА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7984D-33E7-492E-9457-5D765292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429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0" i="0">
                <a:solidFill>
                  <a:srgbClr val="F8F2E8"/>
                </a:solidFill>
                <a:latin typeface="Georgia"/>
                <a:ea typeface="Georgia"/>
                <a:cs typeface="Georgia"/>
              </a:defRPr>
            </a:pPr>
            <a:r>
              <a:t>Запись, календарь и оплата убирают хаос из расписания.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12D6F-FC6F-49D4-BF94-54D891D7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E9E0D0"/>
                </a:solidFill>
                <a:latin typeface="Arial"/>
                <a:ea typeface="Arial"/>
                <a:cs typeface="Arial"/>
              </a:defRPr>
            </a:pPr>
            <a:r>
              <a:t>Сайт работает не только на привлечение. Он экономит время мастера каждый день.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9CDE9-EB30-4B28-9060-C5321DA0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1526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7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40B95-29BE-452C-8E51-8ADB7E1F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20000"/>
            </a:srgbClr>
          </a:solidFill>
          <a:ln xmlns:a="http://schemas.openxmlformats.org/drawingml/2006/main" w="9525">
            <a:solidFill>
              <a:srgbClr val="C8A66A">
                <a:alpha val="6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51031-3DAE-4642-B41A-A97260FD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438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1DC1E-BDDE-46CC-8014-90E0B557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Выбор услуги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AE01D-4B27-4CD5-ACA6-5DE044C3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1638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D9CEBE"/>
                </a:solidFill>
                <a:latin typeface="Arial"/>
                <a:ea typeface="Arial"/>
                <a:cs typeface="Arial"/>
              </a:defRPr>
            </a:pPr>
            <a:r>
              <a:t>клиент сам видит варианты и цену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AC9EC-EF76-4BBA-8B6A-8CBDF26B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70000"/>
            </a:srgbClr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FEA22-6CE2-4765-A171-BC2DED13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38500"/>
            <a:ext cx="21526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7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BBDCA-8725-400D-85D0-17920DEE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480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20000"/>
            </a:srgbClr>
          </a:solidFill>
          <a:ln xmlns:a="http://schemas.openxmlformats.org/drawingml/2006/main" w="9525">
            <a:solidFill>
              <a:srgbClr val="C8A66A">
                <a:alpha val="6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4FAAF-D671-4AA7-AB73-7A65BF22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62350"/>
            <a:ext cx="438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74C9B-CDD6-4085-B984-7BBE78C9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957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Дата и время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1A2D1-744A-4E54-BD51-A01F2402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57700"/>
            <a:ext cx="1638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D9CEBE"/>
                </a:solidFill>
                <a:latin typeface="Arial"/>
                <a:ea typeface="Arial"/>
                <a:cs typeface="Arial"/>
              </a:defRPr>
            </a:pPr>
            <a:r>
              <a:t>слот уходит в календарь мастера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CBBED-8A96-4ED1-8DED-7635F12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338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70000"/>
            </a:srgbClr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A349D-C083-4444-B432-C78E7AA9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21526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7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072EB-FC0A-4BD9-BD72-9412BC1D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20000"/>
            </a:srgbClr>
          </a:solidFill>
          <a:ln xmlns:a="http://schemas.openxmlformats.org/drawingml/2006/main" w="9525">
            <a:solidFill>
              <a:srgbClr val="C8A66A">
                <a:alpha val="6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8C78D-600A-46D9-BCD2-445CA3D7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438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3152A-B81A-426B-A275-D5677DFB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Онлайн-оплата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F360B7-6829-484A-AC19-8D789A07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1638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D9CEBE"/>
                </a:solidFill>
                <a:latin typeface="Arial"/>
                <a:ea typeface="Arial"/>
                <a:cs typeface="Arial"/>
              </a:defRPr>
            </a:pPr>
            <a:r>
              <a:t>запись становится серьёзным намерением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FED51-7C1B-43D1-8A95-9C9902CF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338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70000"/>
            </a:srgbClr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F91310-D84C-47C4-A9D1-ABB6E3CA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38500"/>
            <a:ext cx="21526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7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F5D8FA-99E3-4BFC-84D1-129E091E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480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20000"/>
            </a:srgbClr>
          </a:solidFill>
          <a:ln xmlns:a="http://schemas.openxmlformats.org/drawingml/2006/main" w="9525">
            <a:solidFill>
              <a:srgbClr val="C8A66A">
                <a:alpha val="6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535430-D97E-4B9B-B30B-89F18D7F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62350"/>
            <a:ext cx="438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9A6CD7-DC4C-42E9-A187-1620CE14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957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Уведомления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D3EF18-0BB8-48D1-9DEB-1A0A2A4F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1638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D9CEBE"/>
                </a:solidFill>
                <a:latin typeface="Arial"/>
                <a:ea typeface="Arial"/>
                <a:cs typeface="Arial"/>
              </a:defRPr>
            </a:pPr>
            <a:r>
              <a:t>клиент и мастер получают подтверждение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048820-59D5-456C-B679-6345C5FB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5000"/>
            </a:srgbClr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FF7AC4-DCB4-4B99-8610-0158A971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Женя массажист / сайт как система записи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8DACDA-4A33-40F8-AA67-4355F790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57925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73558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3888DF-BE1C-4AD7-9DE2-84BD5FA0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65B63-88A3-41C6-BAFE-A46B8F33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9F1C5-62D8-480C-B468-8C999DFE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ОДНА ССЫЛКА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84E55-0894-41A8-958E-873347D0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6858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0" i="0">
                <a:solidFill>
                  <a:srgbClr val="F8F2E8"/>
                </a:solidFill>
                <a:latin typeface="Georgia"/>
                <a:ea typeface="Georgia"/>
                <a:cs typeface="Georgia"/>
              </a:defRPr>
            </a:pPr>
            <a:r>
              <a:t>Каждого клиента можно вести в одно место.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C94F4-67B4-4686-A9DB-E9CF8EAB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6477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E9E0D0"/>
                </a:solidFill>
                <a:latin typeface="Arial"/>
                <a:ea typeface="Arial"/>
                <a:cs typeface="Arial"/>
              </a:defRPr>
            </a:pPr>
            <a:r>
              <a:t>Ссылка на сайт закрепляется в Telegram, отправляется в чате, ставится в рекламу, на визитку и в профиль. Клиенту не нужно разбираться, где писать и что спрашивать.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D3502-173A-48C0-8D3B-288EC9E5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40005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8A66A">
              <a:alpha val="16000"/>
            </a:srgbClr>
          </a:solidFill>
          <a:ln xmlns:a="http://schemas.openxmlformats.org/drawingml/2006/main" w="9525">
            <a:solidFill>
              <a:srgbClr val="C8A66A">
                <a:alpha val="5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05CB0-BAED-4FD4-B67B-ED77E810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8140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0" i="0">
                <a:solidFill>
                  <a:srgbClr val="FFE4A9"/>
                </a:solidFill>
                <a:latin typeface="Georgia"/>
                <a:ea typeface="Georgia"/>
                <a:cs typeface="Georgia"/>
              </a:defRPr>
            </a:pPr>
            <a:r>
              <a:t>zhenya-massage.ru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01998-1BE9-4AC1-BF28-191E6AAE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957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3E8D8"/>
                </a:solidFill>
                <a:latin typeface="Arial"/>
                <a:ea typeface="Arial"/>
                <a:cs typeface="Arial"/>
              </a:defRPr>
            </a:pPr>
            <a:r>
              <a:t>единый вход в запись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DB7C6-AFA9-4DD0-A6F7-E6FDBC8E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2190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DC910-E186-4963-8A7C-08BB4FCA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847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профиль Telegram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325DB-66E6-4B22-9256-C4AC3453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861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8000"/>
            </a:srgbClr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68C1B-5A55-4924-BDB6-C8B2A78C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190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6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247E1-04CA-43E0-9706-23D3BFEC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1847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личные сообщения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A491D-096F-4B40-8A20-8F33D578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529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8000"/>
            </a:srgbClr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0A0C0-9A4C-4727-B8EF-D78FB3DB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2190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6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43578-BBBB-4FE4-BB8C-A1C4997A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4950"/>
            <a:ext cx="1847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QR на визитке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C83DE-6DE9-43AE-8A22-1DCB9F88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197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8000"/>
            </a:srgbClr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41116-01A0-43DC-9F5B-A31D5F52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2190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EE146-4133-4174-8707-D79E09C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1847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реклама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7B2B7-18AB-4FE7-94A2-4A8B076D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8000"/>
            </a:srgbClr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911635-282D-46C5-BB81-0194593E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190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DD7CC3-BF2B-436C-9C0E-D44CFCCF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48150"/>
            <a:ext cx="1847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карты и поиск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EBF39-BD68-4EDC-95EB-896C5F78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529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8000"/>
            </a:srgbClr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FC5815-2361-4113-9958-43B50CBB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62550"/>
            <a:ext cx="2190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6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EEAFA-3488-4C74-9400-8C6B0DF7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14950"/>
            <a:ext cx="1847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повторные клиенты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3C9799-B045-4E81-B716-6690BDD9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8000"/>
            </a:srgbClr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AA23D1-965C-45FB-8395-935D47DE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5000"/>
            </a:srgbClr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A8A0E-D66B-4759-992D-C39C4FFB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Женя массажист / сайт как система записи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3A76A4-AFE2-4D4B-A7D2-EB967532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57925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7110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d8f3daf2d4f3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50DAD-36C4-403A-B27B-9F246D85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C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33142-4609-475E-9BBE-B1BA1598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5468B-C1E9-4307-A590-7122EFF6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ИИ-МЕНЕДЖЕР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3C02F-BB59-41C5-838C-B10B3CFA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191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0" i="0">
                <a:solidFill>
                  <a:srgbClr val="F8F2E8"/>
                </a:solidFill>
                <a:latin typeface="Georgia"/>
                <a:ea typeface="Georgia"/>
                <a:cs typeface="Georgia"/>
              </a:defRPr>
            </a:pPr>
            <a:r>
              <a:t>ИИ-виджет отвечает, пока мастер работает руками.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880B4-C907-4CCF-893C-DC954E11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5334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E9E0D0"/>
                </a:solidFill>
                <a:latin typeface="Arial"/>
                <a:ea typeface="Arial"/>
                <a:cs typeface="Arial"/>
              </a:defRPr>
            </a:pPr>
            <a:r>
              <a:t>Он может принять первичный вопрос, объяснить услуги, предложить запись, напомнить об оплате и отправить уведомление в Telegram.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B0A58-F470-48AB-A6B9-EBB4629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2095500" cy="1295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8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FAAE2-F0D6-4627-9D41-FA530841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638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84A44-93B6-4D34-B40D-BB974E96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1638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DFD4C3"/>
                </a:solidFill>
                <a:latin typeface="Arial"/>
                <a:ea typeface="Arial"/>
                <a:cs typeface="Arial"/>
              </a:defRPr>
            </a:pPr>
            <a:r>
              <a:t>не теряем клиента вечером или между сеансами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F16EC-EE70-4AEE-BEB2-BEA3A0E8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90950"/>
            <a:ext cx="2095500" cy="1295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9E232-4620-4D04-8E3A-F7F03673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00500"/>
            <a:ext cx="1638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Запись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D26DE-D04B-4E0E-ABFA-3DF5CCCE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38650"/>
            <a:ext cx="1638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DFD4C3"/>
                </a:solidFill>
                <a:latin typeface="Arial"/>
                <a:ea typeface="Arial"/>
                <a:cs typeface="Arial"/>
              </a:defRPr>
            </a:pPr>
            <a:r>
              <a:t>ведём к выбору услуги, даты и времени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7633B-1534-4E1E-B7D4-4D1CB119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90950"/>
            <a:ext cx="2095500" cy="1295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8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AD88C-BD1A-4F46-B364-DE5D380F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00500"/>
            <a:ext cx="1638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Уведомление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8EC3C-A8F4-4B3B-828C-BAB4744C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1638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DFD4C3"/>
                </a:solidFill>
                <a:latin typeface="Arial"/>
                <a:ea typeface="Arial"/>
                <a:cs typeface="Arial"/>
              </a:defRPr>
            </a:pPr>
            <a:r>
              <a:t>мастер видит заявку и оплату сразу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E10AD-F84F-4706-8A81-38261073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5000"/>
            </a:srgbClr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4658E-95A9-4223-8E2D-24633037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Женя массажист / сайт как система записи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0EE5C-C87E-4BE4-A3D5-FDC611E3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57925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511646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3A7DF9-BD4B-4C32-8C2B-BB764FD5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92089-522F-48AE-B4C4-191A43FC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4301B-A9CB-4812-A2FB-86D05849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ВОСПРИЯТИЕ ЦЕНЫ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FFFCA-CCD8-407E-A8C7-00C6082B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0" i="0">
                <a:solidFill>
                  <a:srgbClr val="F8F2E8"/>
                </a:solidFill>
                <a:latin typeface="Georgia"/>
                <a:ea typeface="Georgia"/>
                <a:cs typeface="Georgia"/>
              </a:defRPr>
            </a:pPr>
            <a:r>
              <a:t>Хороший сайт делает мастера дороже ещё до первого сеанса.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26B3E-69DD-4CC2-B2F1-9AD5B25F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E9E0D0"/>
                </a:solidFill>
                <a:latin typeface="Arial"/>
                <a:ea typeface="Arial"/>
                <a:cs typeface="Arial"/>
              </a:defRPr>
            </a:pPr>
            <a:r>
              <a:t>Люди покупают не только массаж. Они покупают безопасность, уверенность и ощущение, что попали к профессионалу.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025BB-0792-4E34-AD20-C9888D9F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3048000" cy="18097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8F2E8">
              <a:alpha val="6000"/>
            </a:srgbClr>
          </a:solidFill>
          <a:ln xmlns:a="http://schemas.openxmlformats.org/drawingml/2006/main" w="9525">
            <a:solidFill>
              <a:srgbClr val="F8F2E8">
                <a:alpha val="1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A5CCB-985D-4727-AF19-D2F23102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D7C6A6"/>
                </a:solidFill>
                <a:latin typeface="Georgia"/>
                <a:ea typeface="Georgia"/>
                <a:cs typeface="Georgia"/>
              </a:defRPr>
            </a:pPr>
            <a:r>
              <a:t>Без сайта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2CF10-DB6D-44EA-94DC-71604699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95750"/>
            <a:ext cx="2286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D8CCBA"/>
                </a:solidFill>
                <a:latin typeface="Arial"/>
                <a:ea typeface="Arial"/>
                <a:cs typeface="Arial"/>
              </a:defRPr>
            </a:pPr>
            <a:r>
              <a:t>цены приходится объяснять в чате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D8CCBA"/>
                </a:solidFill>
                <a:latin typeface="Arial"/>
                <a:ea typeface="Arial"/>
                <a:cs typeface="Arial"/>
              </a:defRPr>
            </a:pPr>
            <a:r>
              <a:t>доверие строится вручную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D8CCBA"/>
                </a:solidFill>
                <a:latin typeface="Arial"/>
                <a:ea typeface="Arial"/>
                <a:cs typeface="Arial"/>
              </a:defRPr>
            </a:pPr>
            <a:r>
              <a:t>клиент сравнивает только стоимость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B3F72-F9A0-4CA6-AC8F-366BE95F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52750"/>
            <a:ext cx="3619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C8A66A">
              <a:alpha val="15000"/>
            </a:srgbClr>
          </a:solidFill>
          <a:ln xmlns:a="http://schemas.openxmlformats.org/drawingml/2006/main" w="9525">
            <a:solidFill>
              <a:srgbClr val="C8A66A">
                <a:alpha val="5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6CA55-B3FB-46E0-A539-FFB0C4A9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575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FFE4A9"/>
                </a:solidFill>
                <a:latin typeface="Georgia"/>
                <a:ea typeface="Georgia"/>
                <a:cs typeface="Georgia"/>
              </a:defRPr>
            </a:pPr>
            <a:r>
              <a:t>С сайтом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C1843-702B-4563-9611-FE5CEBB6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86200"/>
            <a:ext cx="27813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3E8D8"/>
                </a:solidFill>
                <a:latin typeface="Arial"/>
                <a:ea typeface="Arial"/>
                <a:cs typeface="Arial"/>
              </a:defRPr>
            </a:pPr>
            <a:r>
              <a:t>упаковка выглядит профессионально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3E8D8"/>
                </a:solidFill>
                <a:latin typeface="Arial"/>
                <a:ea typeface="Arial"/>
                <a:cs typeface="Arial"/>
              </a:defRPr>
            </a:pPr>
            <a:r>
              <a:t>услуги и ценность понятны заранее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3E8D8"/>
                </a:solidFill>
                <a:latin typeface="Arial"/>
                <a:ea typeface="Arial"/>
                <a:cs typeface="Arial"/>
              </a:defRPr>
            </a:pPr>
            <a:r>
              <a:t>запись ощущается как серьёзный сервис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DE496-9696-4B05-9282-92580D1E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95650"/>
            <a:ext cx="2095500" cy="18097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6F8B6B">
              <a:alpha val="18000"/>
            </a:srgbClr>
          </a:solidFill>
          <a:ln xmlns:a="http://schemas.openxmlformats.org/drawingml/2006/main" w="9525">
            <a:solidFill>
              <a:srgbClr val="B9C8A9">
                <a:alpha val="3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53D7A-CAE8-4798-95BC-26F3FD53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DCE8D0"/>
                </a:solidFill>
                <a:latin typeface="Georgia"/>
                <a:ea typeface="Georgia"/>
                <a:cs typeface="Georgia"/>
              </a:defRPr>
            </a:pPr>
            <a:r>
              <a:t>Итог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72A89-0C41-4DC0-A3DC-05D075B7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13525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E6F0DC"/>
                </a:solidFill>
                <a:latin typeface="Arial"/>
                <a:ea typeface="Arial"/>
                <a:cs typeface="Arial"/>
              </a:defRPr>
            </a:pPr>
            <a:r>
              <a:t>клиент приходит теплее и легче соглашается на нормальную цену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E2BFF-32B6-43ED-BB61-503DDE30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5000"/>
            </a:srgbClr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27399-096B-4500-BF1B-475AB2C7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Женя массажист / сайт как система записи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7EF6F-BD78-4DE7-83D1-92DE589D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57925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050826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7BDF5A-93E8-44E1-970E-A777BF38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61A68-8C6E-4A2A-ADD9-A9DE5C6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C8E59-D5F9-4BF4-934D-755DF657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РОСТ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8A19F-D8F0-42D0-A501-95146D4B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69532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0" i="0">
                <a:solidFill>
                  <a:srgbClr val="F8F2E8"/>
                </a:solidFill>
                <a:latin typeface="Georgia"/>
                <a:ea typeface="Georgia"/>
                <a:cs typeface="Georgia"/>
              </a:defRPr>
            </a:pPr>
            <a:r>
              <a:t>Сайт собирает бизнес в цикл, который можно усиливать.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EA3DB-DE8E-4217-AAC0-3354F246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715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E9E0D0"/>
                </a:solidFill>
                <a:latin typeface="Arial"/>
                <a:ea typeface="Arial"/>
                <a:cs typeface="Arial"/>
              </a:defRPr>
            </a:pPr>
            <a:r>
              <a:t>Это не одноразовая страница. Это место, где реклама, рекомендации, контент, запись и повторные визиты начинают работать вместе.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29825-D6CA-4EE9-81D8-B80BA720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14287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FC962-FC5B-4A8F-B3F7-B5C12BB9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48000"/>
            <a:ext cx="116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Трафик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D517A-5045-4376-8504-79F811BC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14287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22507-6098-46C0-93E0-6431DF16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67150"/>
            <a:ext cx="116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Доверие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B7046-4A48-4C1C-8C90-40393E94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14287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22000"/>
            </a:srgbClr>
          </a:solidFill>
          <a:ln xmlns:a="http://schemas.openxmlformats.org/drawingml/2006/main" w="9525">
            <a:solidFill>
              <a:srgbClr val="C8A66A">
                <a:alpha val="7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8973B-2B10-447B-94D2-B7518893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34000"/>
            <a:ext cx="116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E4A9"/>
                </a:solidFill>
                <a:latin typeface="Arial"/>
                <a:ea typeface="Arial"/>
                <a:cs typeface="Arial"/>
              </a:defRPr>
            </a:pPr>
            <a:r>
              <a:t>Запись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D6546-2C92-4909-8E8D-F9795E2B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14287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8EE35-651B-4319-A969-95258BA0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334000"/>
            <a:ext cx="116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Оплата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0F26C-96CF-44AA-A31E-BA9E8610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76650"/>
            <a:ext cx="14287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33C4B-4EF3-4A38-8950-2BF79632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67150"/>
            <a:ext cx="116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Повтор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E0019-9796-47FF-9832-E80E62DB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8000"/>
            </a:srgbClr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D1DB6-373B-496A-8DB0-3A9C9AB6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433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8000"/>
            </a:srgbClr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D24C1-7C17-4363-9CDA-5E94720B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48300"/>
            <a:ext cx="167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8000"/>
            </a:srgbClr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58E43-391C-4447-B278-5A861459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8000"/>
            </a:srgbClr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D3292C-9632-44DF-9CCD-5D72FAA6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2190750" cy="16383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6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4088C-0FF8-4EBC-9F99-63B80EE4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86150"/>
            <a:ext cx="1714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Что можно измерять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F0D52-B8C6-4F09-9B59-75E434C7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00500"/>
            <a:ext cx="1619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D8CCBA"/>
                </a:solidFill>
                <a:latin typeface="Arial"/>
                <a:ea typeface="Arial"/>
                <a:cs typeface="Arial"/>
              </a:defRPr>
            </a:pPr>
            <a:r>
              <a:t>заявки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D8CCBA"/>
                </a:solidFill>
                <a:latin typeface="Arial"/>
                <a:ea typeface="Arial"/>
                <a:cs typeface="Arial"/>
              </a:defRPr>
            </a:pPr>
            <a:r>
              <a:t>стоимость записи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D8CCBA"/>
                </a:solidFill>
                <a:latin typeface="Arial"/>
                <a:ea typeface="Arial"/>
                <a:cs typeface="Arial"/>
              </a:defRPr>
            </a:pPr>
            <a:r>
              <a:t>оплаты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D8CCBA"/>
                </a:solidFill>
                <a:latin typeface="Arial"/>
                <a:ea typeface="Arial"/>
                <a:cs typeface="Arial"/>
              </a:defRPr>
            </a:pPr>
            <a:r>
              <a:t>повторные визиты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77C5D-F5A8-4969-A4D3-477C9921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5000"/>
            </a:srgbClr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88E8A1-CD5A-439D-B4DC-AC9F9347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Женя массажист / сайт как система записи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E42B9-E6BA-4804-BFA1-87971600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57925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37674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96D4E-6ACE-4864-8ECA-EA2FAA9F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D3EFB-612A-4737-9715-0BB9BE04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A0AFE-C2C4-4355-B269-56287618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СЛЕДУЮЩИЙ ШАГ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D8E7F-AE0E-46F4-BE3E-9FA7653B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810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0" i="0">
                <a:solidFill>
                  <a:srgbClr val="F8F2E8"/>
                </a:solidFill>
                <a:latin typeface="Georgia"/>
                <a:ea typeface="Georgia"/>
                <a:cs typeface="Georgia"/>
              </a:defRPr>
            </a:pPr>
            <a:r>
              <a:t>Запуск можно сделать спокойно: сначала база, потом автоматизация.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71CC9-9E44-452D-957E-F1FF051D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E9E0D0"/>
                </a:solidFill>
                <a:latin typeface="Arial"/>
                <a:ea typeface="Arial"/>
                <a:cs typeface="Arial"/>
              </a:defRPr>
            </a:pPr>
            <a:r>
              <a:t>Не нужно строить большой портал. Нужна аккуратная система, которая уже в первой версии помогает записывать клиентов.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13C0C-9E55-442D-BEF1-ECFD12A8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45000"/>
            </a:srgbClr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650BD-C03D-407A-A1B6-2E6C4ECD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18000"/>
            </a:srgbClr>
          </a:solidFill>
          <a:ln xmlns:a="http://schemas.openxmlformats.org/drawingml/2006/main" w="9525">
            <a:solidFill>
              <a:srgbClr val="C8A66A">
                <a:alpha val="6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17876-9CCA-479D-9F06-C887F01C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01B07-E670-440C-A191-E382BD27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Упаковать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09E7D-6DAF-4A78-8F5C-FB415BC4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158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D9CEBE"/>
                </a:solidFill>
                <a:latin typeface="Arial"/>
                <a:ea typeface="Arial"/>
                <a:cs typeface="Arial"/>
              </a:defRPr>
            </a:pPr>
            <a:r>
              <a:t>услуги, фото, тексты, цены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16FEE-081B-42BF-8B71-DE22A0C9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71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18000"/>
            </a:srgbClr>
          </a:solidFill>
          <a:ln xmlns:a="http://schemas.openxmlformats.org/drawingml/2006/main" w="9525">
            <a:solidFill>
              <a:srgbClr val="C8A66A">
                <a:alpha val="6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C254E-F1E3-4C05-AFA4-307CD59D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528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74ABF-EBC5-4039-86EF-DE725F1F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Запустить запись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919E4-9CA6-4EA5-83B0-01B00204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91050"/>
            <a:ext cx="158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D9CEBE"/>
                </a:solidFill>
                <a:latin typeface="Arial"/>
                <a:ea typeface="Arial"/>
                <a:cs typeface="Arial"/>
              </a:defRPr>
            </a:pPr>
            <a:r>
              <a:t>форма, календарь, уведомления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DB6AA-B91E-41F5-A764-A76EE804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18000"/>
            </a:srgbClr>
          </a:solidFill>
          <a:ln xmlns:a="http://schemas.openxmlformats.org/drawingml/2006/main" w="9525">
            <a:solidFill>
              <a:srgbClr val="C8A66A">
                <a:alpha val="6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EC591-05A5-4C30-A028-5D6621FA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528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5D490-5C3B-4EFA-9F97-A8FB220C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291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Подключить оплату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B0970-87CC-4302-AAF9-A9FB850A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1050"/>
            <a:ext cx="158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D9CEBE"/>
                </a:solidFill>
                <a:latin typeface="Arial"/>
                <a:ea typeface="Arial"/>
                <a:cs typeface="Arial"/>
              </a:defRPr>
            </a:pPr>
            <a:r>
              <a:t>предоплата или полная оплата онлайн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4A25B-E761-4BDA-920C-21ECD22F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71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18000"/>
            </a:srgbClr>
          </a:solidFill>
          <a:ln xmlns:a="http://schemas.openxmlformats.org/drawingml/2006/main" w="9525">
            <a:solidFill>
              <a:srgbClr val="C8A66A">
                <a:alpha val="6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CD6FA-95F2-4310-B0C7-FA4F673B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528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F929F-EA6D-48AE-88D0-B6E1FE95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Дать трафик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89DCF-3188-46CC-8649-D8FF2AAB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91050"/>
            <a:ext cx="158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D9CEBE"/>
                </a:solidFill>
                <a:latin typeface="Arial"/>
                <a:ea typeface="Arial"/>
                <a:cs typeface="Arial"/>
              </a:defRPr>
            </a:pPr>
            <a:r>
              <a:t>Яндекс, гео, Telegram-ссылка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C550D-C447-4D38-BE53-036FAED5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71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A66A">
              <a:alpha val="18000"/>
            </a:srgbClr>
          </a:solidFill>
          <a:ln xmlns:a="http://schemas.openxmlformats.org/drawingml/2006/main" w="9525">
            <a:solidFill>
              <a:srgbClr val="C8A66A">
                <a:alpha val="6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A4422-2C39-43E3-A6ED-CAD77A0E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528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C8A66A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F5257B-ABDD-477D-9C58-42A98E58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8F2E8"/>
                </a:solidFill>
                <a:latin typeface="Arial"/>
                <a:ea typeface="Arial"/>
                <a:cs typeface="Arial"/>
              </a:defRPr>
            </a:pPr>
            <a:r>
              <a:t>Дожимать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C23E46-DEB7-4E18-A51F-8EB1A109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91050"/>
            <a:ext cx="1581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D9CEBE"/>
                </a:solidFill>
                <a:latin typeface="Arial"/>
                <a:ea typeface="Arial"/>
                <a:cs typeface="Arial"/>
              </a:defRPr>
            </a:pPr>
            <a:r>
              <a:t>ИИ-виджет, напоминания, повторы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3AE1BD-41D3-45C3-B3A0-9AF0821E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05450"/>
            <a:ext cx="3238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2E8">
              <a:alpha val="8000"/>
            </a:srgbClr>
          </a:solidFill>
          <a:ln xmlns:a="http://schemas.openxmlformats.org/drawingml/2006/main" w="9525">
            <a:solidFill>
              <a:srgbClr val="F8F2E8">
                <a:alpha val="16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D89742-E62C-4D76-8A9F-437D73D1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638800"/>
            <a:ext cx="2743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3E8D8"/>
                </a:solidFill>
                <a:latin typeface="Arial"/>
                <a:ea typeface="Arial"/>
                <a:cs typeface="Arial"/>
              </a:defRPr>
            </a:pPr>
            <a:r>
              <a:t>Итог: сайт становится администратором, рекламной посадочной и витриной доверия одновременно.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15FE2D-479C-4F93-892B-334E7417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66A">
              <a:alpha val="65000"/>
            </a:srgbClr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156B59-0F3B-4780-BC3C-AD4462F9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Женя массажист / сайт как система записи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2B1528-F54E-4BE3-8430-C235439A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57925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F8F2E8">
                    <a:alpha val="62000"/>
                  </a:srgbClr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7030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2026-05-31T13:21:58.8530000Z</dcterms:created>
  <dcterms:modified xsi:type="dcterms:W3CDTF">2026-05-31T13:21:58.8530000Z</dcterms:modified>
</coreProperties>
</file>
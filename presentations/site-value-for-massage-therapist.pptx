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17b034276ae4b55" /><Relationship Type="http://schemas.openxmlformats.org/officeDocument/2006/relationships/extended-properties" Target="/docProps/app.xml" Id="R5bced2e0491943c6" /><Relationship Type="http://schemas.openxmlformats.org/officeDocument/2006/relationships/officeDocument" Target="/ppt/presentation.xml" Id="R0043cdd644424f1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70ad76d1e9740ae"/>
  </p:sldMasterIdLst>
  <p:notesMasterIdLst>
    <p:notesMasterId xmlns:r="http://schemas.openxmlformats.org/officeDocument/2006/relationships" r:id="R3412fd53af9949c0"/>
  </p:notesMasterIdLst>
  <p:sldIdLst>
    <p:sldId xmlns:r="http://schemas.openxmlformats.org/officeDocument/2006/relationships" id="256" r:id="Rf2ade482749a4fbf"/>
    <p:sldId xmlns:r="http://schemas.openxmlformats.org/officeDocument/2006/relationships" id="257" r:id="Rac94b0ecfd1844d7"/>
    <p:sldId xmlns:r="http://schemas.openxmlformats.org/officeDocument/2006/relationships" id="258" r:id="R2c2f31bf2c5a46ed"/>
    <p:sldId xmlns:r="http://schemas.openxmlformats.org/officeDocument/2006/relationships" id="259" r:id="R00ace7232fda4ed8"/>
    <p:sldId xmlns:r="http://schemas.openxmlformats.org/officeDocument/2006/relationships" id="260" r:id="Rdf027a5019034f3a"/>
    <p:sldId xmlns:r="http://schemas.openxmlformats.org/officeDocument/2006/relationships" id="261" r:id="R31d96c2ce7c6416d"/>
    <p:sldId xmlns:r="http://schemas.openxmlformats.org/officeDocument/2006/relationships" id="262" r:id="R8ff918ea5a894be7"/>
    <p:sldId xmlns:r="http://schemas.openxmlformats.org/officeDocument/2006/relationships" id="263" r:id="Red0155d95567406e"/>
    <p:sldId xmlns:r="http://schemas.openxmlformats.org/officeDocument/2006/relationships" id="264" r:id="R6b340a2095804985"/>
    <p:sldId xmlns:r="http://schemas.openxmlformats.org/officeDocument/2006/relationships" id="265" r:id="R96810e718cc64e8c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70ad76d1e9740ae" /><Relationship Type="http://schemas.openxmlformats.org/officeDocument/2006/relationships/theme" Target="/ppt/theme/theme1.xml" Id="R9cdf1c101ab649f7" /><Relationship Type="http://schemas.openxmlformats.org/officeDocument/2006/relationships/notesMaster" Target="/ppt/notesMasters/notesMaster1.xml" Id="R3412fd53af9949c0" /><Relationship Type="http://schemas.openxmlformats.org/officeDocument/2006/relationships/presProps" Target="/ppt/presProps.xml" Id="R86f19b05032b46f5" /><Relationship Type="http://schemas.openxmlformats.org/officeDocument/2006/relationships/viewProps" Target="/ppt/viewProps.xml" Id="R686008eb7e3245c7" /><Relationship Type="http://schemas.openxmlformats.org/officeDocument/2006/relationships/tableStyles" Target="/ppt/tableStyles.xml" Id="Ra5625d9a048f42ff" /><Relationship Type="http://schemas.openxmlformats.org/officeDocument/2006/relationships/slide" Target="/ppt/slides/slide1.xml" Id="Rf2ade482749a4fbf" /><Relationship Type="http://schemas.openxmlformats.org/officeDocument/2006/relationships/slide" Target="/ppt/slides/slide2.xml" Id="Rac94b0ecfd1844d7" /><Relationship Type="http://schemas.openxmlformats.org/officeDocument/2006/relationships/slide" Target="/ppt/slides/slide3.xml" Id="R2c2f31bf2c5a46ed" /><Relationship Type="http://schemas.openxmlformats.org/officeDocument/2006/relationships/slide" Target="/ppt/slides/slide4.xml" Id="R00ace7232fda4ed8" /><Relationship Type="http://schemas.openxmlformats.org/officeDocument/2006/relationships/slide" Target="/ppt/slides/slide5.xml" Id="Rdf027a5019034f3a" /><Relationship Type="http://schemas.openxmlformats.org/officeDocument/2006/relationships/slide" Target="/ppt/slides/slide6.xml" Id="R31d96c2ce7c6416d" /><Relationship Type="http://schemas.openxmlformats.org/officeDocument/2006/relationships/slide" Target="/ppt/slides/slide7.xml" Id="R8ff918ea5a894be7" /><Relationship Type="http://schemas.openxmlformats.org/officeDocument/2006/relationships/slide" Target="/ppt/slides/slide8.xml" Id="Red0155d95567406e" /><Relationship Type="http://schemas.openxmlformats.org/officeDocument/2006/relationships/slide" Target="/ppt/slides/slide9.xml" Id="R6b340a2095804985" /><Relationship Type="http://schemas.openxmlformats.org/officeDocument/2006/relationships/slide" Target="/ppt/slides/slide10.xml" Id="R96810e718cc64e8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f3c77352f83946f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16f1f7304ec41b0" /><Relationship Type="http://schemas.openxmlformats.org/officeDocument/2006/relationships/notesMaster" Target="/ppt/notesMasters/notesMaster1.xml" Id="Rc9e8e6ecc819452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ae1059aeeb24995" /><Relationship Type="http://schemas.openxmlformats.org/officeDocument/2006/relationships/notesMaster" Target="/ppt/notesMasters/notesMaster1.xml" Id="R58eaae2762a8481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fa3aeeb6d50480f" /><Relationship Type="http://schemas.openxmlformats.org/officeDocument/2006/relationships/notesMaster" Target="/ppt/notesMasters/notesMaster1.xml" Id="R6ea6c793486147f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d6a8fefa4bb4fda" /><Relationship Type="http://schemas.openxmlformats.org/officeDocument/2006/relationships/notesMaster" Target="/ppt/notesMasters/notesMaster1.xml" Id="R90b236de89dd43c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057703a75bf416e" /><Relationship Type="http://schemas.openxmlformats.org/officeDocument/2006/relationships/notesMaster" Target="/ppt/notesMasters/notesMaster1.xml" Id="Rd2baf204de3a4b8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9563d8bc2fa450e" /><Relationship Type="http://schemas.openxmlformats.org/officeDocument/2006/relationships/notesMaster" Target="/ppt/notesMasters/notesMaster1.xml" Id="R20d9216315f642f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4f31b7c9570419c" /><Relationship Type="http://schemas.openxmlformats.org/officeDocument/2006/relationships/notesMaster" Target="/ppt/notesMasters/notesMaster1.xml" Id="R2a72fcad8db24f9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496d4840c44490c" /><Relationship Type="http://schemas.openxmlformats.org/officeDocument/2006/relationships/notesMaster" Target="/ppt/notesMasters/notesMaster1.xml" Id="R27b5483a4197485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dfd914b8fd54240" /><Relationship Type="http://schemas.openxmlformats.org/officeDocument/2006/relationships/notesMaster" Target="/ppt/notesMasters/notesMaster1.xml" Id="R6c03c35b3e3648b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dcd3c07cdb8463d" /><Relationship Type="http://schemas.openxmlformats.org/officeDocument/2006/relationships/notesMaster" Target="/ppt/notesMasters/notesMaster1.xml" Id="R35a16b2ad627434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c46e4017d2f4ac3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6c47b4b95701433a" /><Relationship Type="http://schemas.openxmlformats.org/officeDocument/2006/relationships/slideLayout" Target="/ppt/slideLayouts/slideLayout2.xml" Id="R258cf6fdaca4457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58cf6fdaca4457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415818e517d4083" /><Relationship Type="http://schemas.openxmlformats.org/officeDocument/2006/relationships/image" Target="/ppt/media/image.jpeg" Id="Re91eb82ebaa94e51" /><Relationship Type="http://schemas.openxmlformats.org/officeDocument/2006/relationships/notesSlide" Target="/ppt/notesSlides/notesSlide1.xml" Id="Rb771e464dbf84ee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339f77a762e4f8e" /><Relationship Type="http://schemas.openxmlformats.org/officeDocument/2006/relationships/notesSlide" Target="/ppt/notesSlides/notesSlide2.xml" Id="Rf7314bc38fbe490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7d1ac7085204f8a" /><Relationship Type="http://schemas.openxmlformats.org/officeDocument/2006/relationships/notesSlide" Target="/ppt/notesSlides/notesSlide3.xml" Id="Rba7b67c61aea4fe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428df2901eb44ac" /><Relationship Type="http://schemas.openxmlformats.org/officeDocument/2006/relationships/image" Target="/ppt/media/image2.jpeg" Id="R80582344043c49bb" /><Relationship Type="http://schemas.openxmlformats.org/officeDocument/2006/relationships/notesSlide" Target="/ppt/notesSlides/notesSlide4.xml" Id="R8ef89b252f5c4e9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ca1c8d980594d73" /><Relationship Type="http://schemas.openxmlformats.org/officeDocument/2006/relationships/notesSlide" Target="/ppt/notesSlides/notesSlide5.xml" Id="Rd9cccf0db48f41f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e9062d50a184efa" /><Relationship Type="http://schemas.openxmlformats.org/officeDocument/2006/relationships/notesSlide" Target="/ppt/notesSlides/notesSlide6.xml" Id="Re09797378840473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aa0ac96c7324fa6" /><Relationship Type="http://schemas.openxmlformats.org/officeDocument/2006/relationships/image" Target="/ppt/media/image3.jpeg" Id="Rb3e0d121186e4752" /><Relationship Type="http://schemas.openxmlformats.org/officeDocument/2006/relationships/notesSlide" Target="/ppt/notesSlides/notesSlide7.xml" Id="Rc12c77341fb240e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85823f834fe4c24" /><Relationship Type="http://schemas.openxmlformats.org/officeDocument/2006/relationships/notesSlide" Target="/ppt/notesSlides/notesSlide8.xml" Id="Rc700d11d33e14b2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08cfedcc36a447a" /><Relationship Type="http://schemas.openxmlformats.org/officeDocument/2006/relationships/notesSlide" Target="/ppt/notesSlides/notesSlide9.xml" Id="Rf92e1cf2a5db47f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fdf9a6be17240f2" /><Relationship Type="http://schemas.openxmlformats.org/officeDocument/2006/relationships/notesSlide" Target="/ppt/notesSlides/notesSlide10.xml" Id="Rb0c6b26240ff4929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1eb82ebaa94e51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4539E5-3C17-4E96-8EDF-F7CCD1816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239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1C"/>
          </a:solidFill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3076ED-0FE2-49E5-B41F-871E4B691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323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A66A"/>
          </a:solidFill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1BD59D-07C3-4844-A0C7-48D5BB8EA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24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C8A66A"/>
                </a:solidFill>
                <a:latin typeface="Arial"/>
                <a:ea typeface="Arial"/>
                <a:cs typeface="Arial"/>
              </a:defRPr>
            </a:pPr>
            <a:r>
              <a:t>ГЛАВНАЯ ИДЕЯ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921374-F76A-4708-AB04-38A8F503F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04900"/>
            <a:ext cx="5905500" cy="1352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450" b="0" i="0">
                <a:solidFill>
                  <a:srgbClr val="F8F2E8"/>
                </a:solidFill>
                <a:latin typeface="Georgia"/>
                <a:ea typeface="Georgia"/>
                <a:cs typeface="Georgia"/>
              </a:defRPr>
            </a:pPr>
            <a:r>
              <a:t>Сайт — это не витрина.</a:t>
            </a:r>
          </a:p>
          <a:p xmlns:a="http://schemas.openxmlformats.org/drawingml/2006/main">
            <a:pPr algn="l">
              <a:defRPr sz="3450" b="0" i="0">
                <a:solidFill>
                  <a:srgbClr val="F8F2E8"/>
                </a:solidFill>
                <a:latin typeface="Georgia"/>
                <a:ea typeface="Georgia"/>
                <a:cs typeface="Georgia"/>
              </a:defRPr>
            </a:pPr>
            <a:r>
              <a:t>Это система записи.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B0FCF1-D0AD-40F6-9CF5-AD43D18C9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47950"/>
            <a:ext cx="5715000" cy="1123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E9E0D0"/>
                </a:solidFill>
                <a:latin typeface="Arial"/>
                <a:ea typeface="Arial"/>
                <a:cs typeface="Arial"/>
              </a:defRPr>
            </a:pPr>
            <a:r>
              <a:t>Для массажиста сайт должен работать как личный администратор: объяснять ценность, принимать заявки, брать оплату, синхронизировать календарь и возвращать клиента.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B065E5-C851-4631-8280-1D11F3EC0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95750"/>
            <a:ext cx="13906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8A66A">
              <a:alpha val="16000"/>
            </a:srgbClr>
          </a:solidFill>
          <a:ln xmlns:a="http://schemas.openxmlformats.org/drawingml/2006/main" w="9525">
            <a:solidFill>
              <a:srgbClr val="C8A66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495A3F-0C9F-4F8D-8474-2122E10D5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81475"/>
            <a:ext cx="10858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C8A66A"/>
                </a:solidFill>
                <a:latin typeface="Arial"/>
                <a:ea typeface="Arial"/>
                <a:cs typeface="Arial"/>
              </a:defRPr>
            </a:pPr>
            <a:r>
              <a:t>доверие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17C5C78-8644-4E2E-9C14-6922E4421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095750"/>
            <a:ext cx="13906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8A66A">
              <a:alpha val="16000"/>
            </a:srgbClr>
          </a:solidFill>
          <a:ln xmlns:a="http://schemas.openxmlformats.org/drawingml/2006/main" w="9525">
            <a:solidFill>
              <a:srgbClr val="C8A66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CDF819-6C1B-4A9E-84BC-9889FE494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4181475"/>
            <a:ext cx="10858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C8A66A"/>
                </a:solidFill>
                <a:latin typeface="Arial"/>
                <a:ea typeface="Arial"/>
                <a:cs typeface="Arial"/>
              </a:defRPr>
            </a:pPr>
            <a:r>
              <a:t>запись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7AC3DA-799F-4FB1-80CC-8A1B85B50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095750"/>
            <a:ext cx="13906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8A66A">
              <a:alpha val="16000"/>
            </a:srgbClr>
          </a:solidFill>
          <a:ln xmlns:a="http://schemas.openxmlformats.org/drawingml/2006/main" w="9525">
            <a:solidFill>
              <a:srgbClr val="C8A66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17092D-1843-439E-8650-9AFF2DB52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4181475"/>
            <a:ext cx="10858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C8A66A"/>
                </a:solidFill>
                <a:latin typeface="Arial"/>
                <a:ea typeface="Arial"/>
                <a:cs typeface="Arial"/>
              </a:defRPr>
            </a:pPr>
            <a:r>
              <a:t>оплата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7D0EB7-19E7-4DB9-B3E4-CEAB50340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095750"/>
            <a:ext cx="13906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8A66A">
              <a:alpha val="16000"/>
            </a:srgbClr>
          </a:solidFill>
          <a:ln xmlns:a="http://schemas.openxmlformats.org/drawingml/2006/main" w="9525">
            <a:solidFill>
              <a:srgbClr val="C8A66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99D69FC-6D68-4719-BC42-998819E8E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181475"/>
            <a:ext cx="10858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C8A66A"/>
                </a:solidFill>
                <a:latin typeface="Arial"/>
                <a:ea typeface="Arial"/>
                <a:cs typeface="Arial"/>
              </a:defRPr>
            </a:pPr>
            <a:r>
              <a:t>повторы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5C315B-E009-4CA1-A70B-4C08D1C0E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62600"/>
            <a:ext cx="40005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F8F2E8">
                    <a:alpha val="72000"/>
                  </a:srgbClr>
                </a:solidFill>
                <a:latin typeface="Arial"/>
                <a:ea typeface="Arial"/>
                <a:cs typeface="Arial"/>
              </a:defRPr>
            </a:pPr>
            <a:r>
              <a:t>Стратегическая презентация для Жени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88A832-1A7B-4613-96CE-D1C196E81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62700"/>
            <a:ext cx="495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A66A">
              <a:alpha val="65000"/>
            </a:srgbClr>
          </a:solidFill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6E65E2A-5B05-4436-9AFD-4C7005897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6257925"/>
            <a:ext cx="4762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F8F2E8">
                    <a:alpha val="62000"/>
                  </a:srgbClr>
                </a:solidFill>
                <a:latin typeface="Arial"/>
                <a:ea typeface="Arial"/>
                <a:cs typeface="Arial"/>
              </a:defRPr>
            </a:pPr>
            <a:r>
              <a:t>Женя массажист / сайт как система записи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4F052B7-FB45-41C5-AA47-18CBEDD8A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257925"/>
            <a:ext cx="4000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 i="0">
                <a:solidFill>
                  <a:srgbClr val="F8F2E8">
                    <a:alpha val="62000"/>
                  </a:srgbClr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475506101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C7F6DBA-DC2F-4656-9C80-D09AE53F7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1C"/>
          </a:solidFill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8F38ED-7C6A-4CB1-9DBD-90917A388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323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A66A"/>
          </a:solidFill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A601ED-B74C-4917-8F98-63212137F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3340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C8A66A"/>
                </a:solidFill>
                <a:latin typeface="Arial"/>
                <a:ea typeface="Arial"/>
                <a:cs typeface="Arial"/>
              </a:defRPr>
            </a:pPr>
            <a:r>
              <a:t>ПРОБЛЕМА КАНАЛОВ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3560BE-EB4E-48C0-9A86-269AA807C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7239000" cy="1104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450" b="0" i="0">
                <a:solidFill>
                  <a:srgbClr val="F8F2E8"/>
                </a:solidFill>
                <a:latin typeface="Georgia"/>
                <a:ea typeface="Georgia"/>
                <a:cs typeface="Georgia"/>
              </a:defRPr>
            </a:pPr>
            <a:r>
              <a:t>Соцсети дают внимание, но не дают контроля над записью.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CE6F7C-5C70-4FA5-A635-592EE9B58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09800"/>
            <a:ext cx="542925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E9E0D0"/>
                </a:solidFill>
                <a:latin typeface="Arial"/>
                <a:ea typeface="Arial"/>
                <a:cs typeface="Arial"/>
              </a:defRPr>
            </a:pPr>
            <a:r>
              <a:t>Когда Telegram проседает, а VK/OK не хочется развивать, нужен свой центр: место, куда ведут все касания и где клиент спокойно принимает решение.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9CDD81-7314-46D0-9D29-10D1F3574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90900"/>
            <a:ext cx="17145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8F2E8">
              <a:alpha val="8000"/>
            </a:srgbClr>
          </a:solidFill>
          <a:ln xmlns:a="http://schemas.openxmlformats.org/drawingml/2006/main" w="9525">
            <a:solidFill>
              <a:srgbClr val="F8F2E8">
                <a:alpha val="1800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127C03-6AC9-4411-B3EB-FEBC04DE9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43300"/>
            <a:ext cx="1714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8F2E8"/>
                </a:solidFill>
                <a:latin typeface="Arial"/>
                <a:ea typeface="Arial"/>
                <a:cs typeface="Arial"/>
              </a:defRPr>
            </a:pPr>
            <a:r>
              <a:t>Telegram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07C004-D4DA-4665-816E-B02C2D63F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648075"/>
            <a:ext cx="1428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A66A">
              <a:alpha val="72000"/>
            </a:srgbClr>
          </a:solidFill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923889-E612-4A0C-9D63-B999F4EEF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52900"/>
            <a:ext cx="17145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8F2E8">
              <a:alpha val="8000"/>
            </a:srgbClr>
          </a:solidFill>
          <a:ln xmlns:a="http://schemas.openxmlformats.org/drawingml/2006/main" w="9525">
            <a:solidFill>
              <a:srgbClr val="F8F2E8">
                <a:alpha val="1800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8924CB-99B5-47A0-98B9-6A165516F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05300"/>
            <a:ext cx="1714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8F2E8"/>
                </a:solidFill>
                <a:latin typeface="Arial"/>
                <a:ea typeface="Arial"/>
                <a:cs typeface="Arial"/>
              </a:defRPr>
            </a:pPr>
            <a:r>
              <a:t>Сарафан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010C2D-32D5-44D4-90EE-F832A0ADE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4410075"/>
            <a:ext cx="1428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A66A">
              <a:alpha val="72000"/>
            </a:srgbClr>
          </a:solidFill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881BFF-2DF1-438E-9334-511B99C8B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14900"/>
            <a:ext cx="17145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8F2E8">
              <a:alpha val="8000"/>
            </a:srgbClr>
          </a:solidFill>
          <a:ln xmlns:a="http://schemas.openxmlformats.org/drawingml/2006/main" w="9525">
            <a:solidFill>
              <a:srgbClr val="F8F2E8">
                <a:alpha val="1800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AA8387-1EBF-443D-ABD3-54401214E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67300"/>
            <a:ext cx="1714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8F2E8"/>
                </a:solidFill>
                <a:latin typeface="Arial"/>
                <a:ea typeface="Arial"/>
                <a:cs typeface="Arial"/>
              </a:defRPr>
            </a:pPr>
            <a:r>
              <a:t>Яндекс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D35D3E-B44B-427F-BDE7-0551DD507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5172075"/>
            <a:ext cx="1428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A66A">
              <a:alpha val="72000"/>
            </a:srgbClr>
          </a:solidFill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15962A-C6D3-48E9-BF34-5DFF0A0E3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676900"/>
            <a:ext cx="17145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8F2E8">
              <a:alpha val="8000"/>
            </a:srgbClr>
          </a:solidFill>
          <a:ln xmlns:a="http://schemas.openxmlformats.org/drawingml/2006/main" w="9525">
            <a:solidFill>
              <a:srgbClr val="F8F2E8">
                <a:alpha val="1800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BD0B2F8-2D07-4BB3-9D6B-1C83B2E8D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829300"/>
            <a:ext cx="1714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8F2E8"/>
                </a:solidFill>
                <a:latin typeface="Arial"/>
                <a:ea typeface="Arial"/>
                <a:cs typeface="Arial"/>
              </a:defRPr>
            </a:pPr>
            <a:r>
              <a:t>VK / OK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B9119C2-521C-43E9-895A-83E6A176F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5934075"/>
            <a:ext cx="1428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A66A">
              <a:alpha val="72000"/>
            </a:srgbClr>
          </a:solidFill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316B5DD-9950-4BC7-B083-950340A34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152650"/>
            <a:ext cx="4095750" cy="3390900"/>
          </a:xfrm>
          <a:prstGeom xmlns:a="http://schemas.openxmlformats.org/drawingml/2006/main" prst="roundRect">
            <a:avLst>
              <a:gd name="adj" fmla="val 6180"/>
            </a:avLst>
          </a:prstGeom>
          <a:solidFill xmlns:a="http://schemas.openxmlformats.org/drawingml/2006/main">
            <a:srgbClr val="F8F2E8">
              <a:alpha val="10000"/>
            </a:srgbClr>
          </a:solidFill>
          <a:ln xmlns:a="http://schemas.openxmlformats.org/drawingml/2006/main" w="9525">
            <a:solidFill>
              <a:srgbClr val="C8A66A">
                <a:alpha val="4200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D9B046C-3AB5-457E-A45C-07AC39FBB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514600"/>
            <a:ext cx="31432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900" b="0" i="0">
                <a:solidFill>
                  <a:srgbClr val="C8A66A"/>
                </a:solidFill>
                <a:latin typeface="Georgia"/>
                <a:ea typeface="Georgia"/>
                <a:cs typeface="Georgia"/>
              </a:defRPr>
            </a:pPr>
            <a:r>
              <a:t>Сайт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AE18145-43D3-494F-A5F9-F739A9AB8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181350"/>
            <a:ext cx="29718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F8F2E8"/>
                </a:solidFill>
                <a:latin typeface="Arial"/>
                <a:ea typeface="Arial"/>
                <a:cs typeface="Arial"/>
              </a:defRPr>
            </a:pPr>
            <a:r>
              <a:t>личный центр доверия, записи и оплаты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D588A26-C296-44E7-BC61-687FE7997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152900"/>
            <a:ext cx="2876550" cy="876300"/>
          </a:xfrm>
          <a:prstGeom xmlns:a="http://schemas.openxmlformats.org/drawingml/2006/main" prst="roundRect">
            <a:avLst>
              <a:gd name="adj" fmla="val 15217"/>
            </a:avLst>
          </a:prstGeom>
          <a:solidFill xmlns:a="http://schemas.openxmlformats.org/drawingml/2006/main">
            <a:srgbClr val="17231C">
              <a:alpha val="64000"/>
            </a:srgbClr>
          </a:solidFill>
          <a:ln xmlns:a="http://schemas.openxmlformats.org/drawingml/2006/main" w="9525">
            <a:solidFill>
              <a:srgbClr val="F8F2E8">
                <a:alpha val="1800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6AD64AB-5037-4ACD-9B9A-1E2BACFAC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362450"/>
            <a:ext cx="24193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F8F2E8"/>
                </a:solidFill>
                <a:latin typeface="Arial"/>
                <a:ea typeface="Arial"/>
                <a:cs typeface="Arial"/>
              </a:defRPr>
            </a:pPr>
            <a:r>
              <a:t>Что меняется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9D627DB-1928-436E-AB0A-8F176A6BC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781550"/>
            <a:ext cx="2419350" cy="95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DFD4C3"/>
                </a:solidFill>
                <a:latin typeface="Arial"/>
                <a:ea typeface="Arial"/>
                <a:cs typeface="Arial"/>
              </a:defRPr>
            </a:pPr>
            <a:r>
              <a:t>Клиент больше не теряется в переписке. Он видит услуги, цену, время, оплату и понятный следующий шаг.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F8B3FE9-F48E-47DD-A137-92F5EED34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62700"/>
            <a:ext cx="495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A66A">
              <a:alpha val="65000"/>
            </a:srgbClr>
          </a:solidFill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17D6D2D-917A-4CA3-8AD9-B6E1D207F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6257925"/>
            <a:ext cx="4762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F8F2E8">
                    <a:alpha val="62000"/>
                  </a:srgbClr>
                </a:solidFill>
                <a:latin typeface="Arial"/>
                <a:ea typeface="Arial"/>
                <a:cs typeface="Arial"/>
              </a:defRPr>
            </a:pPr>
            <a:r>
              <a:t>Женя массажист / сайт как система записи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7F4EE94-51AA-434F-BFB2-B855DFB5F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257925"/>
            <a:ext cx="4000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 i="0">
                <a:solidFill>
                  <a:srgbClr val="F8F2E8">
                    <a:alpha val="62000"/>
                  </a:srgbClr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724894245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EC126C2-5059-441F-B2DA-C9B02C7FD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1C"/>
          </a:solidFill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B7CEFD-90D2-4A82-90ED-1530D8AED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323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A66A"/>
          </a:solidFill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7DB9DA-E593-47C3-A139-2176B5696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3340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C8A66A"/>
                </a:solidFill>
                <a:latin typeface="Arial"/>
                <a:ea typeface="Arial"/>
                <a:cs typeface="Arial"/>
              </a:defRPr>
            </a:pPr>
            <a:r>
              <a:t>КОНВЕРСИЯ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1BFBA7-232E-4BB7-9DAB-233E23109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7048500" cy="1000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450" b="0" i="0">
                <a:solidFill>
                  <a:srgbClr val="F8F2E8"/>
                </a:solidFill>
                <a:latin typeface="Georgia"/>
                <a:ea typeface="Georgia"/>
                <a:cs typeface="Georgia"/>
              </a:defRPr>
            </a:pPr>
            <a:r>
              <a:t>Сайт превращает интерес в маршрут до записи.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D9C31C-4B43-4ECD-86E5-A75E87720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38350"/>
            <a:ext cx="57150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E9E0D0"/>
                </a:solidFill>
                <a:latin typeface="Arial"/>
                <a:ea typeface="Arial"/>
                <a:cs typeface="Arial"/>
              </a:defRPr>
            </a:pPr>
            <a:r>
              <a:t>Главная задача — убрать лишние вопросы до того, как человек успел передумать.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0B5150-1D2A-46D9-A449-D0D23B51C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14650"/>
            <a:ext cx="39052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D8C8B6"/>
                </a:solidFill>
                <a:latin typeface="Arial"/>
                <a:ea typeface="Arial"/>
                <a:cs typeface="Arial"/>
              </a:defRPr>
            </a:pPr>
            <a:r>
              <a:t>Как часто бывает сейчас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9C11FB-D1D9-4CE0-8918-0F2E66765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914650"/>
            <a:ext cx="39052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D8C8B6"/>
                </a:solidFill>
                <a:latin typeface="Arial"/>
                <a:ea typeface="Arial"/>
                <a:cs typeface="Arial"/>
              </a:defRPr>
            </a:pPr>
            <a:r>
              <a:t>Как должно работать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DDEAD1-31FC-410E-9FE9-6F90B1091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52800"/>
            <a:ext cx="40005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8F2E8">
              <a:alpha val="7000"/>
            </a:srgbClr>
          </a:solidFill>
          <a:ln xmlns:a="http://schemas.openxmlformats.org/drawingml/2006/main" w="9525">
            <a:solidFill>
              <a:srgbClr val="F8F2E8">
                <a:alpha val="1400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2A1CA7-F6AC-4E6D-A01C-FF7D73BD1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457575"/>
            <a:ext cx="12382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F1E7D7"/>
                </a:solidFill>
                <a:latin typeface="Arial"/>
                <a:ea typeface="Arial"/>
                <a:cs typeface="Arial"/>
              </a:defRPr>
            </a:pPr>
            <a:r>
              <a:t>Сообщение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55BB65-8C99-4528-B754-A622FE15F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457575"/>
            <a:ext cx="2190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CDBEA9"/>
                </a:solidFill>
                <a:latin typeface="Arial"/>
                <a:ea typeface="Arial"/>
                <a:cs typeface="Arial"/>
              </a:defRPr>
            </a:pPr>
            <a:r>
              <a:t>клиент пишет в чат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01F365-4346-4FAA-AC0D-41C69502F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05250"/>
            <a:ext cx="40005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8F2E8">
              <a:alpha val="7000"/>
            </a:srgbClr>
          </a:solidFill>
          <a:ln xmlns:a="http://schemas.openxmlformats.org/drawingml/2006/main" w="9525">
            <a:solidFill>
              <a:srgbClr val="F8F2E8">
                <a:alpha val="1400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36308C-A6CD-4B5A-AFD7-9E9F20B60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010025"/>
            <a:ext cx="12382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F1E7D7"/>
                </a:solidFill>
                <a:latin typeface="Arial"/>
                <a:ea typeface="Arial"/>
                <a:cs typeface="Arial"/>
              </a:defRPr>
            </a:pPr>
            <a:r>
              <a:t>Ожидание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0D16849-AE80-4C0D-8925-DC2367617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010025"/>
            <a:ext cx="2190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CDBEA9"/>
                </a:solidFill>
                <a:latin typeface="Arial"/>
                <a:ea typeface="Arial"/>
                <a:cs typeface="Arial"/>
              </a:defRPr>
            </a:pPr>
            <a:r>
              <a:t>мастер занят на сеансе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4CA3F38-05DF-496D-AB67-15237A425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457700"/>
            <a:ext cx="40005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8F2E8">
              <a:alpha val="7000"/>
            </a:srgbClr>
          </a:solidFill>
          <a:ln xmlns:a="http://schemas.openxmlformats.org/drawingml/2006/main" w="9525">
            <a:solidFill>
              <a:srgbClr val="F8F2E8">
                <a:alpha val="1400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D59FEF9-6270-4605-B979-6168A9B79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562475"/>
            <a:ext cx="12382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F1E7D7"/>
                </a:solidFill>
                <a:latin typeface="Arial"/>
                <a:ea typeface="Arial"/>
                <a:cs typeface="Arial"/>
              </a:defRPr>
            </a:pPr>
            <a:r>
              <a:t>Уточнения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085A85A-42A7-4124-BE4F-CCD72DE02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562475"/>
            <a:ext cx="2190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CDBEA9"/>
                </a:solidFill>
                <a:latin typeface="Arial"/>
                <a:ea typeface="Arial"/>
                <a:cs typeface="Arial"/>
              </a:defRPr>
            </a:pPr>
            <a:r>
              <a:t>цена, время, адрес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DD7EBB8-AE34-41FE-B299-FCEC5D378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010150"/>
            <a:ext cx="40005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8F2E8">
              <a:alpha val="7000"/>
            </a:srgbClr>
          </a:solidFill>
          <a:ln xmlns:a="http://schemas.openxmlformats.org/drawingml/2006/main" w="9525">
            <a:solidFill>
              <a:srgbClr val="F8F2E8">
                <a:alpha val="1400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956C7B4-241A-4286-B89E-2F4D958F6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114925"/>
            <a:ext cx="12382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F1E7D7"/>
                </a:solidFill>
                <a:latin typeface="Arial"/>
                <a:ea typeface="Arial"/>
                <a:cs typeface="Arial"/>
              </a:defRPr>
            </a:pPr>
            <a:r>
              <a:t>Потеря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D6EDBF0-8D31-4CBB-8224-7418591DD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5114925"/>
            <a:ext cx="2190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CDBEA9"/>
                </a:solidFill>
                <a:latin typeface="Arial"/>
                <a:ea typeface="Arial"/>
                <a:cs typeface="Arial"/>
              </a:defRPr>
            </a:pPr>
            <a:r>
              <a:t>клиент остывает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0FCD8B2-7B26-4BE1-9114-E36FA5D1F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352800"/>
            <a:ext cx="40005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A66A">
              <a:alpha val="16000"/>
            </a:srgbClr>
          </a:solidFill>
          <a:ln xmlns:a="http://schemas.openxmlformats.org/drawingml/2006/main" w="9525">
            <a:solidFill>
              <a:srgbClr val="C8A66A">
                <a:alpha val="4200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267ED1D-EA69-40EA-91D2-B01A4EE05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457575"/>
            <a:ext cx="12382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FFE6AE"/>
                </a:solidFill>
                <a:latin typeface="Arial"/>
                <a:ea typeface="Arial"/>
                <a:cs typeface="Arial"/>
              </a:defRPr>
            </a:pPr>
            <a:r>
              <a:t>Сайт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9BBF497-66A8-4A2C-8BCB-8CB7F0A83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457575"/>
            <a:ext cx="2190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F5EBD9"/>
                </a:solidFill>
                <a:latin typeface="Arial"/>
                <a:ea typeface="Arial"/>
                <a:cs typeface="Arial"/>
              </a:defRPr>
            </a:pPr>
            <a:r>
              <a:t>видит предложение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0358FCE-A893-433B-8028-CA7D29342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905250"/>
            <a:ext cx="40005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A66A">
              <a:alpha val="16000"/>
            </a:srgbClr>
          </a:solidFill>
          <a:ln xmlns:a="http://schemas.openxmlformats.org/drawingml/2006/main" w="9525">
            <a:solidFill>
              <a:srgbClr val="C8A66A">
                <a:alpha val="4200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669FC1A-E764-4FAB-A241-630F67F7C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010025"/>
            <a:ext cx="12382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FFE6AE"/>
                </a:solidFill>
                <a:latin typeface="Arial"/>
                <a:ea typeface="Arial"/>
                <a:cs typeface="Arial"/>
              </a:defRPr>
            </a:pPr>
            <a:r>
              <a:t>Услуга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02578A2-3529-42A9-B98E-DE1483F54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010025"/>
            <a:ext cx="2190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F5EBD9"/>
                </a:solidFill>
                <a:latin typeface="Arial"/>
                <a:ea typeface="Arial"/>
                <a:cs typeface="Arial"/>
              </a:defRPr>
            </a:pPr>
            <a:r>
              <a:t>понимает цену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F7F8E1E-29CC-4220-AE82-C92149EC8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457700"/>
            <a:ext cx="40005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A66A">
              <a:alpha val="16000"/>
            </a:srgbClr>
          </a:solidFill>
          <a:ln xmlns:a="http://schemas.openxmlformats.org/drawingml/2006/main" w="9525">
            <a:solidFill>
              <a:srgbClr val="C8A66A">
                <a:alpha val="4200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3DDE17A-4050-4FD5-A487-199D0BB58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562475"/>
            <a:ext cx="12382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FFE6AE"/>
                </a:solidFill>
                <a:latin typeface="Arial"/>
                <a:ea typeface="Arial"/>
                <a:cs typeface="Arial"/>
              </a:defRPr>
            </a:pPr>
            <a:r>
              <a:t>Время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E234601-CF55-4369-84B6-0C8AFF00D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562475"/>
            <a:ext cx="2190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F5EBD9"/>
                </a:solidFill>
                <a:latin typeface="Arial"/>
                <a:ea typeface="Arial"/>
                <a:cs typeface="Arial"/>
              </a:defRPr>
            </a:pPr>
            <a:r>
              <a:t>выбирает слот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9149933-F79F-4982-ABD6-B8227FABF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5010150"/>
            <a:ext cx="40005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A66A">
              <a:alpha val="16000"/>
            </a:srgbClr>
          </a:solidFill>
          <a:ln xmlns:a="http://schemas.openxmlformats.org/drawingml/2006/main" w="9525">
            <a:solidFill>
              <a:srgbClr val="C8A66A">
                <a:alpha val="4200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8EB664A-FF6E-4DDB-B0F4-9771DBCD7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5114925"/>
            <a:ext cx="12382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FFE6AE"/>
                </a:solidFill>
                <a:latin typeface="Arial"/>
                <a:ea typeface="Arial"/>
                <a:cs typeface="Arial"/>
              </a:defRPr>
            </a:pPr>
            <a:r>
              <a:t>Оплата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0986E38-481F-4660-91E0-13ECF88B3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114925"/>
            <a:ext cx="2190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F5EBD9"/>
                </a:solidFill>
                <a:latin typeface="Arial"/>
                <a:ea typeface="Arial"/>
                <a:cs typeface="Arial"/>
              </a:defRPr>
            </a:pPr>
            <a:r>
              <a:t>фиксирует запись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A0600EF-848C-4961-AF81-5BF458751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4333875"/>
            <a:ext cx="1028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A66A"/>
          </a:solidFill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F09CB73-D679-4249-97C3-4F1827859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572000"/>
            <a:ext cx="16192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C8A66A"/>
                </a:solidFill>
                <a:latin typeface="Arial"/>
                <a:ea typeface="Arial"/>
                <a:cs typeface="Arial"/>
              </a:defRPr>
            </a:pPr>
            <a:r>
              <a:t>меньше ручной переписки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56778A5-6C13-4253-B569-5459B5D53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62700"/>
            <a:ext cx="495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A66A">
              <a:alpha val="65000"/>
            </a:srgbClr>
          </a:solidFill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C1E5A9D-C4A2-47CB-B68B-00CDDF9BB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6257925"/>
            <a:ext cx="4762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F8F2E8">
                    <a:alpha val="62000"/>
                  </a:srgbClr>
                </a:solidFill>
                <a:latin typeface="Arial"/>
                <a:ea typeface="Arial"/>
                <a:cs typeface="Arial"/>
              </a:defRPr>
            </a:pPr>
            <a:r>
              <a:t>Женя массажист / сайт как система записи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666F66B-2CD4-44B2-8304-84127E32B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257925"/>
            <a:ext cx="4000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 i="0">
                <a:solidFill>
                  <a:srgbClr val="F8F2E8">
                    <a:alpha val="62000"/>
                  </a:srgbClr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60868838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582344043c49bb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303B31-C754-474B-AA6F-75B61E677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5200650" cy="5295900"/>
          </a:xfrm>
          <a:prstGeom xmlns:a="http://schemas.openxmlformats.org/drawingml/2006/main" prst="roundRect">
            <a:avLst>
              <a:gd name="adj" fmla="val 4396"/>
            </a:avLst>
          </a:prstGeom>
          <a:solidFill xmlns:a="http://schemas.openxmlformats.org/drawingml/2006/main">
            <a:srgbClr val="17231C">
              <a:alpha val="70000"/>
            </a:srgbClr>
          </a:solidFill>
          <a:ln xmlns:a="http://schemas.openxmlformats.org/drawingml/2006/main" w="9525">
            <a:solidFill>
              <a:srgbClr val="F8F2E8">
                <a:alpha val="1600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22402E-9E91-473E-B6D7-D1852D5DA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323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A66A"/>
          </a:solidFill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9B1B72-455A-48EF-A959-EC6B07C8E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8191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C8A66A"/>
                </a:solidFill>
                <a:latin typeface="Arial"/>
                <a:ea typeface="Arial"/>
                <a:cs typeface="Arial"/>
              </a:defRPr>
            </a:pPr>
            <a:r>
              <a:t>РЕКЛАМА И ГЕО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8F5266-9CF2-4489-9D17-C470B83D4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95400"/>
            <a:ext cx="4000500" cy="1238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450" b="0" i="0">
                <a:solidFill>
                  <a:srgbClr val="F8F2E8"/>
                </a:solidFill>
                <a:latin typeface="Georgia"/>
                <a:ea typeface="Georgia"/>
                <a:cs typeface="Georgia"/>
              </a:defRPr>
            </a:pPr>
            <a:r>
              <a:t>Реклама в Яндексе должна вести в запись.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E6B8D5-8503-40E7-B9F1-863ED5C6D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81300"/>
            <a:ext cx="3733800" cy="1104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E9E0D0"/>
                </a:solidFill>
                <a:latin typeface="Arial"/>
                <a:ea typeface="Arial"/>
                <a:cs typeface="Arial"/>
              </a:defRPr>
            </a:pPr>
            <a:r>
              <a:t>Поисковый спрос горячий: человек уже ищет массаж рядом. Сайт даёт рекламной системе понятную посадочную страницу, а клиенту — быстрый ответ.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47E96C-253C-4F0C-B72A-0156EE36C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324350"/>
            <a:ext cx="3695700" cy="838200"/>
          </a:xfrm>
          <a:prstGeom xmlns:a="http://schemas.openxmlformats.org/drawingml/2006/main" prst="roundRect">
            <a:avLst>
              <a:gd name="adj" fmla="val 15909"/>
            </a:avLst>
          </a:prstGeom>
          <a:solidFill xmlns:a="http://schemas.openxmlformats.org/drawingml/2006/main">
            <a:srgbClr val="F8F2E8">
              <a:alpha val="8000"/>
            </a:srgbClr>
          </a:solidFill>
          <a:ln xmlns:a="http://schemas.openxmlformats.org/drawingml/2006/main" w="9525">
            <a:solidFill>
              <a:srgbClr val="F8F2E8">
                <a:alpha val="1800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5C51F7-F1B7-4C82-B9CD-E25D18673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533900"/>
            <a:ext cx="3238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F8F2E8"/>
                </a:solidFill>
                <a:latin typeface="Arial"/>
                <a:ea typeface="Arial"/>
                <a:cs typeface="Arial"/>
              </a:defRPr>
            </a:pPr>
            <a:r>
              <a:t>Настройка под гео и нейросети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F42FCA-6AE1-4BDA-A53D-4BBD88337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953000"/>
            <a:ext cx="3238500" cy="57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DFD4C3"/>
                </a:solidFill>
                <a:latin typeface="Arial"/>
                <a:ea typeface="Arial"/>
                <a:cs typeface="Arial"/>
              </a:defRPr>
            </a:pPr>
            <a:r>
              <a:t>Район, услуги, боли клиента, тексты объявлений и посадочная страница работают в одной логике.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ECBFB0-4B2B-4E91-8FBF-2E7389E95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62700"/>
            <a:ext cx="495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A66A">
              <a:alpha val="65000"/>
            </a:srgbClr>
          </a:solidFill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ECB3D5-E8D5-4DA4-A8AA-C18147684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6257925"/>
            <a:ext cx="4762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F8F2E8">
                    <a:alpha val="62000"/>
                  </a:srgbClr>
                </a:solidFill>
                <a:latin typeface="Arial"/>
                <a:ea typeface="Arial"/>
                <a:cs typeface="Arial"/>
              </a:defRPr>
            </a:pPr>
            <a:r>
              <a:t>Женя массажист / сайт как система записи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0BDB5E-478E-426A-9170-9CB9D13CD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257925"/>
            <a:ext cx="4000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 i="0">
                <a:solidFill>
                  <a:srgbClr val="F8F2E8">
                    <a:alpha val="62000"/>
                  </a:srgbClr>
                </a:solidFill>
                <a:latin typeface="Arial"/>
                <a:ea typeface="Arial"/>
                <a:cs typeface="Arial"/>
              </a:defRPr>
            </a:pPr>
            <a: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996518719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FF35FE5-178E-4371-B700-557AEB7A7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1C"/>
          </a:solidFill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63319F-F955-40F8-9CFF-D78F4B700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323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A66A"/>
          </a:solidFill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0D2DC2-6C94-4A9E-86C9-0320D31E1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3340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C8A66A"/>
                </a:solidFill>
                <a:latin typeface="Arial"/>
                <a:ea typeface="Arial"/>
                <a:cs typeface="Arial"/>
              </a:defRPr>
            </a:pPr>
            <a:r>
              <a:t>ОПЕРАЦИОННАЯ СИСТЕМА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37984D-33E7-492E-9457-5D7652923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742950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450" b="0" i="0">
                <a:solidFill>
                  <a:srgbClr val="F8F2E8"/>
                </a:solidFill>
                <a:latin typeface="Georgia"/>
                <a:ea typeface="Georgia"/>
                <a:cs typeface="Georgia"/>
              </a:defRPr>
            </a:pPr>
            <a:r>
              <a:t>Запись, календарь и оплата убирают хаос из расписания.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B12D6F-FC6F-49D4-BF94-54D891D79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59055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E9E0D0"/>
                </a:solidFill>
                <a:latin typeface="Arial"/>
                <a:ea typeface="Arial"/>
                <a:cs typeface="Arial"/>
              </a:defRPr>
            </a:pPr>
            <a:r>
              <a:t>Сайт работает не только на привлечение. Он экономит время мастера каждый день.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A9CDE9-EB30-4B28-9060-C5321DA0D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38500"/>
            <a:ext cx="2152650" cy="179070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F8F2E8">
              <a:alpha val="8000"/>
            </a:srgbClr>
          </a:solidFill>
          <a:ln xmlns:a="http://schemas.openxmlformats.org/drawingml/2006/main" w="9525">
            <a:solidFill>
              <a:srgbClr val="F8F2E8">
                <a:alpha val="1700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E40B95-29BE-452C-8E51-8ADB7E1F5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448050"/>
            <a:ext cx="438150" cy="438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8A66A">
              <a:alpha val="20000"/>
            </a:srgbClr>
          </a:solidFill>
          <a:ln xmlns:a="http://schemas.openxmlformats.org/drawingml/2006/main" w="9525">
            <a:solidFill>
              <a:srgbClr val="C8A66A">
                <a:alpha val="6000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751031-3DAE-4642-B41A-A97260FDB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562350"/>
            <a:ext cx="4381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C8A66A"/>
                </a:solidFill>
                <a:latin typeface="Arial"/>
                <a:ea typeface="Arial"/>
                <a:cs typeface="Arial"/>
              </a:defRPr>
            </a:pPr>
            <a: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21DC1E-BDDE-46CC-8014-90E0B557C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095750"/>
            <a:ext cx="1619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F8F2E8"/>
                </a:solidFill>
                <a:latin typeface="Arial"/>
                <a:ea typeface="Arial"/>
                <a:cs typeface="Arial"/>
              </a:defRPr>
            </a:pPr>
            <a:r>
              <a:t>Выбор услуги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BAE01D-4B27-4CD5-ACA6-5DE044C34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57700"/>
            <a:ext cx="1638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D9CEBE"/>
                </a:solidFill>
                <a:latin typeface="Arial"/>
                <a:ea typeface="Arial"/>
                <a:cs typeface="Arial"/>
              </a:defRPr>
            </a:pPr>
            <a:r>
              <a:t>клиент сам видит варианты и цену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6AC9EC-EF76-4BBA-8B6A-8CBDF26BE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133850"/>
            <a:ext cx="400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A66A">
              <a:alpha val="70000"/>
            </a:srgbClr>
          </a:solidFill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93FEA22-6CE2-4765-A171-BC2DED132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238500"/>
            <a:ext cx="2152650" cy="179070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F8F2E8">
              <a:alpha val="8000"/>
            </a:srgbClr>
          </a:solidFill>
          <a:ln xmlns:a="http://schemas.openxmlformats.org/drawingml/2006/main" w="9525">
            <a:solidFill>
              <a:srgbClr val="F8F2E8">
                <a:alpha val="1700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1BBDCA-8725-400D-85D0-17920DEED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448050"/>
            <a:ext cx="438150" cy="438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8A66A">
              <a:alpha val="20000"/>
            </a:srgbClr>
          </a:solidFill>
          <a:ln xmlns:a="http://schemas.openxmlformats.org/drawingml/2006/main" w="9525">
            <a:solidFill>
              <a:srgbClr val="C8A66A">
                <a:alpha val="6000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A04FAAF-D671-4AA7-AB73-7A65BF226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562350"/>
            <a:ext cx="4381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C8A66A"/>
                </a:solidFill>
                <a:latin typeface="Arial"/>
                <a:ea typeface="Arial"/>
                <a:cs typeface="Arial"/>
              </a:defRPr>
            </a:pPr>
            <a: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7874C9B-CDD6-4085-B984-7BBE78C9C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4095750"/>
            <a:ext cx="1619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F8F2E8"/>
                </a:solidFill>
                <a:latin typeface="Arial"/>
                <a:ea typeface="Arial"/>
                <a:cs typeface="Arial"/>
              </a:defRPr>
            </a:pPr>
            <a:r>
              <a:t>Дата и время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E91A2D1-744A-4E54-BD51-A01F2402B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4457700"/>
            <a:ext cx="1638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D9CEBE"/>
                </a:solidFill>
                <a:latin typeface="Arial"/>
                <a:ea typeface="Arial"/>
                <a:cs typeface="Arial"/>
              </a:defRPr>
            </a:pPr>
            <a:r>
              <a:t>слот уходит в календарь мастера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92CBBED-8A96-4ED1-8DED-7635F12DF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4133850"/>
            <a:ext cx="400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A66A">
              <a:alpha val="70000"/>
            </a:srgbClr>
          </a:solidFill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04A349D-C083-4444-B432-C78E7AA91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38500"/>
            <a:ext cx="2152650" cy="179070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F8F2E8">
              <a:alpha val="8000"/>
            </a:srgbClr>
          </a:solidFill>
          <a:ln xmlns:a="http://schemas.openxmlformats.org/drawingml/2006/main" w="9525">
            <a:solidFill>
              <a:srgbClr val="F8F2E8">
                <a:alpha val="1700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D8072EB-FC0A-4BD9-BD72-9412BC1DF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448050"/>
            <a:ext cx="438150" cy="438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8A66A">
              <a:alpha val="20000"/>
            </a:srgbClr>
          </a:solidFill>
          <a:ln xmlns:a="http://schemas.openxmlformats.org/drawingml/2006/main" w="9525">
            <a:solidFill>
              <a:srgbClr val="C8A66A">
                <a:alpha val="6000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9B8C78D-600A-46D9-BCD2-445CA3D72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562350"/>
            <a:ext cx="4381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C8A66A"/>
                </a:solidFill>
                <a:latin typeface="Arial"/>
                <a:ea typeface="Arial"/>
                <a:cs typeface="Arial"/>
              </a:defRPr>
            </a:pPr>
            <a: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6E3152A-B81A-426B-A275-D5677DFBC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095750"/>
            <a:ext cx="1619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F8F2E8"/>
                </a:solidFill>
                <a:latin typeface="Arial"/>
                <a:ea typeface="Arial"/>
                <a:cs typeface="Arial"/>
              </a:defRPr>
            </a:pPr>
            <a:r>
              <a:t>Онлайн-оплата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3F360B7-6829-484A-AC19-8D789A07A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457700"/>
            <a:ext cx="1638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D9CEBE"/>
                </a:solidFill>
                <a:latin typeface="Arial"/>
                <a:ea typeface="Arial"/>
                <a:cs typeface="Arial"/>
              </a:defRPr>
            </a:pPr>
            <a:r>
              <a:t>запись становится серьёзным намерением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D5FED51-7C1B-43D1-8A95-9C9902CFB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133850"/>
            <a:ext cx="400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A66A">
              <a:alpha val="70000"/>
            </a:srgbClr>
          </a:solidFill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5F91310-D84C-47C4-A9D1-ABB6E3CA3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238500"/>
            <a:ext cx="2152650" cy="179070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F8F2E8">
              <a:alpha val="8000"/>
            </a:srgbClr>
          </a:solidFill>
          <a:ln xmlns:a="http://schemas.openxmlformats.org/drawingml/2006/main" w="9525">
            <a:solidFill>
              <a:srgbClr val="F8F2E8">
                <a:alpha val="1700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FF5D8FA-99E3-4BFC-84D1-129E091E5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448050"/>
            <a:ext cx="438150" cy="438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8A66A">
              <a:alpha val="20000"/>
            </a:srgbClr>
          </a:solidFill>
          <a:ln xmlns:a="http://schemas.openxmlformats.org/drawingml/2006/main" w="9525">
            <a:solidFill>
              <a:srgbClr val="C8A66A">
                <a:alpha val="6000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B535430-D97E-4B9B-B30B-89F18D7F6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562350"/>
            <a:ext cx="4381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C8A66A"/>
                </a:solidFill>
                <a:latin typeface="Arial"/>
                <a:ea typeface="Arial"/>
                <a:cs typeface="Arial"/>
              </a:defRPr>
            </a:pPr>
            <a:r>
              <a:t>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B9A6CD7-DC4C-42E9-A187-1620CE148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4095750"/>
            <a:ext cx="1619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F8F2E8"/>
                </a:solidFill>
                <a:latin typeface="Arial"/>
                <a:ea typeface="Arial"/>
                <a:cs typeface="Arial"/>
              </a:defRPr>
            </a:pPr>
            <a:r>
              <a:t>Уведомления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6D3EF18-0BB8-48D1-9DEB-1A0A2A4FD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4457700"/>
            <a:ext cx="1638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D9CEBE"/>
                </a:solidFill>
                <a:latin typeface="Arial"/>
                <a:ea typeface="Arial"/>
                <a:cs typeface="Arial"/>
              </a:defRPr>
            </a:pPr>
            <a:r>
              <a:t>клиент и мастер получают подтверждение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C048820-59D5-456C-B679-6345C5FBA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62700"/>
            <a:ext cx="495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A66A">
              <a:alpha val="65000"/>
            </a:srgbClr>
          </a:solidFill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1FF7AC4-DCB4-4B99-8610-0158A971B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6257925"/>
            <a:ext cx="4762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F8F2E8">
                    <a:alpha val="62000"/>
                  </a:srgbClr>
                </a:solidFill>
                <a:latin typeface="Arial"/>
                <a:ea typeface="Arial"/>
                <a:cs typeface="Arial"/>
              </a:defRPr>
            </a:pPr>
            <a:r>
              <a:t>Женя массажист / сайт как система записи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38DACDA-4A33-40F8-AA67-4355F790F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257925"/>
            <a:ext cx="4000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 i="0">
                <a:solidFill>
                  <a:srgbClr val="F8F2E8">
                    <a:alpha val="62000"/>
                  </a:srgbClr>
                </a:solidFill>
                <a:latin typeface="Arial"/>
                <a:ea typeface="Arial"/>
                <a:cs typeface="Arial"/>
              </a:defRPr>
            </a:pPr>
            <a: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707355809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03888DF-BE1C-4AD7-9DE2-84BD5FA0A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1C"/>
          </a:solidFill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765B63-88A3-41C6-BAFE-A46B8F33A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323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A66A"/>
          </a:solidFill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E9F1C5-62D8-480C-B468-8C999DFE5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3340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C8A66A"/>
                </a:solidFill>
                <a:latin typeface="Arial"/>
                <a:ea typeface="Arial"/>
                <a:cs typeface="Arial"/>
              </a:defRPr>
            </a:pPr>
            <a:r>
              <a:t>ОДНА ССЫЛКА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F84E55-0894-41A8-958E-873347D0D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685800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450" b="0" i="0">
                <a:solidFill>
                  <a:srgbClr val="F8F2E8"/>
                </a:solidFill>
                <a:latin typeface="Georgia"/>
                <a:ea typeface="Georgia"/>
                <a:cs typeface="Georgia"/>
              </a:defRPr>
            </a:pPr>
            <a:r>
              <a:t>Каждого клиента можно вести в одно место.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4C94F4-67B4-4686-A9DB-E9CF8EABE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62150"/>
            <a:ext cx="647700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E9E0D0"/>
                </a:solidFill>
                <a:latin typeface="Arial"/>
                <a:ea typeface="Arial"/>
                <a:cs typeface="Arial"/>
              </a:defRPr>
            </a:pPr>
            <a:r>
              <a:t>Ссылка на сайт закрепляется в Telegram, отправляется в чате, ставится в рекламу, на визитку и в профиль. Клиенту не нужно разбираться, где писать и что спрашивать.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5D3502-173A-48C0-8D3B-288EC9E58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105150"/>
            <a:ext cx="4000500" cy="16764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C8A66A">
              <a:alpha val="16000"/>
            </a:srgbClr>
          </a:solidFill>
          <a:ln xmlns:a="http://schemas.openxmlformats.org/drawingml/2006/main" w="9525">
            <a:solidFill>
              <a:srgbClr val="C8A66A">
                <a:alpha val="5200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105CB0-BAED-4FD4-B67B-ED77E8103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581400"/>
            <a:ext cx="31623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0" i="0">
                <a:solidFill>
                  <a:srgbClr val="FFE4A9"/>
                </a:solidFill>
                <a:latin typeface="Georgia"/>
                <a:ea typeface="Georgia"/>
                <a:cs typeface="Georgia"/>
              </a:defRPr>
            </a:pPr>
            <a:r>
              <a:t>zhenya-massage.ru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C01998-1BE9-4AC1-BF28-191E6AAE1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4095750"/>
            <a:ext cx="2381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3E8D8"/>
                </a:solidFill>
                <a:latin typeface="Arial"/>
                <a:ea typeface="Arial"/>
                <a:cs typeface="Arial"/>
              </a:defRPr>
            </a:pPr>
            <a:r>
              <a:t>единый вход в запись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6DB7C6-AFA9-4DD0-A6F7-E6FDBC8E6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28950"/>
            <a:ext cx="219075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8F2E8">
              <a:alpha val="8000"/>
            </a:srgbClr>
          </a:solidFill>
          <a:ln xmlns:a="http://schemas.openxmlformats.org/drawingml/2006/main" w="9525">
            <a:solidFill>
              <a:srgbClr val="F8F2E8">
                <a:alpha val="1600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EDC910-E186-4963-8A7C-08BB4FCAF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181350"/>
            <a:ext cx="18478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F8F2E8"/>
                </a:solidFill>
                <a:latin typeface="Arial"/>
                <a:ea typeface="Arial"/>
                <a:cs typeface="Arial"/>
              </a:defRPr>
            </a:pPr>
            <a:r>
              <a:t>профиль Telegram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7325DB-66E6-4B22-9256-C4AC34534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286125"/>
            <a:ext cx="666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A66A">
              <a:alpha val="68000"/>
            </a:srgbClr>
          </a:solidFill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6668C1B-5A55-4924-BDB6-C8B2A78C9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095750"/>
            <a:ext cx="219075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8F2E8">
              <a:alpha val="8000"/>
            </a:srgbClr>
          </a:solidFill>
          <a:ln xmlns:a="http://schemas.openxmlformats.org/drawingml/2006/main" w="9525">
            <a:solidFill>
              <a:srgbClr val="F8F2E8">
                <a:alpha val="1600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D247E1-04CA-43E0-9706-23D3BFEC9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248150"/>
            <a:ext cx="18478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F8F2E8"/>
                </a:solidFill>
                <a:latin typeface="Arial"/>
                <a:ea typeface="Arial"/>
                <a:cs typeface="Arial"/>
              </a:defRPr>
            </a:pPr>
            <a:r>
              <a:t>личные сообщения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ADA491D-096F-4B40-8A20-8F33D5781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352925"/>
            <a:ext cx="666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A66A">
              <a:alpha val="68000"/>
            </a:srgbClr>
          </a:solidFill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220A0C0-9A4C-4727-B8EF-D78FB3DBF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162550"/>
            <a:ext cx="219075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8F2E8">
              <a:alpha val="8000"/>
            </a:srgbClr>
          </a:solidFill>
          <a:ln xmlns:a="http://schemas.openxmlformats.org/drawingml/2006/main" w="9525">
            <a:solidFill>
              <a:srgbClr val="F8F2E8">
                <a:alpha val="1600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D943578-BBBB-4FE4-BB8C-A1C4997A2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314950"/>
            <a:ext cx="18478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F8F2E8"/>
                </a:solidFill>
                <a:latin typeface="Arial"/>
                <a:ea typeface="Arial"/>
                <a:cs typeface="Arial"/>
              </a:defRPr>
            </a:pPr>
            <a:r>
              <a:t>QR на визитке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2FC83DE-6DE9-43AE-8A22-1DCB9F889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5419725"/>
            <a:ext cx="666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A66A">
              <a:alpha val="68000"/>
            </a:srgbClr>
          </a:solidFill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FC41116-01A0-43DC-9F5B-A31D5F52C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028950"/>
            <a:ext cx="219075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8F2E8">
              <a:alpha val="8000"/>
            </a:srgbClr>
          </a:solidFill>
          <a:ln xmlns:a="http://schemas.openxmlformats.org/drawingml/2006/main" w="9525">
            <a:solidFill>
              <a:srgbClr val="F8F2E8">
                <a:alpha val="1600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FBEE146-4133-4174-8707-D79E09CDB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181350"/>
            <a:ext cx="18478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F8F2E8"/>
                </a:solidFill>
                <a:latin typeface="Arial"/>
                <a:ea typeface="Arial"/>
                <a:cs typeface="Arial"/>
              </a:defRPr>
            </a:pPr>
            <a:r>
              <a:t>реклама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E77B2B7-18AB-4FE7-94A2-4A8B076DC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86125"/>
            <a:ext cx="571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A66A">
              <a:alpha val="68000"/>
            </a:srgbClr>
          </a:solidFill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2911635-282D-46C5-BB81-0194593E5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095750"/>
            <a:ext cx="219075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8F2E8">
              <a:alpha val="8000"/>
            </a:srgbClr>
          </a:solidFill>
          <a:ln xmlns:a="http://schemas.openxmlformats.org/drawingml/2006/main" w="9525">
            <a:solidFill>
              <a:srgbClr val="F8F2E8">
                <a:alpha val="1600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5DD7CC3-BF2B-436C-9C0E-D44CFCCF7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248150"/>
            <a:ext cx="18478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F8F2E8"/>
                </a:solidFill>
                <a:latin typeface="Arial"/>
                <a:ea typeface="Arial"/>
                <a:cs typeface="Arial"/>
              </a:defRPr>
            </a:pPr>
            <a:r>
              <a:t>карты и поиск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9AEBF39-BD68-4EDC-95EB-896C5F78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352925"/>
            <a:ext cx="571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A66A">
              <a:alpha val="68000"/>
            </a:srgbClr>
          </a:solidFill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8FC5815-2361-4113-9958-43B50CBB1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5162550"/>
            <a:ext cx="219075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8F2E8">
              <a:alpha val="8000"/>
            </a:srgbClr>
          </a:solidFill>
          <a:ln xmlns:a="http://schemas.openxmlformats.org/drawingml/2006/main" w="9525">
            <a:solidFill>
              <a:srgbClr val="F8F2E8">
                <a:alpha val="1600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A3EEAFA-3488-4C74-9400-8C6B0DF7E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314950"/>
            <a:ext cx="18478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F8F2E8"/>
                </a:solidFill>
                <a:latin typeface="Arial"/>
                <a:ea typeface="Arial"/>
                <a:cs typeface="Arial"/>
              </a:defRPr>
            </a:pPr>
            <a:r>
              <a:t>повторные клиенты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C3C9799-B045-4E81-B716-6690BDD9F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419725"/>
            <a:ext cx="571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A66A">
              <a:alpha val="68000"/>
            </a:srgbClr>
          </a:solidFill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7AA23D1-965C-45FB-8395-935D47DE7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62700"/>
            <a:ext cx="495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A66A">
              <a:alpha val="65000"/>
            </a:srgbClr>
          </a:solidFill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BCA8A0E-D66B-4759-992D-C39C4FFB4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6257925"/>
            <a:ext cx="4762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F8F2E8">
                    <a:alpha val="62000"/>
                  </a:srgbClr>
                </a:solidFill>
                <a:latin typeface="Arial"/>
                <a:ea typeface="Arial"/>
                <a:cs typeface="Arial"/>
              </a:defRPr>
            </a:pPr>
            <a:r>
              <a:t>Женя массажист / сайт как система записи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D3A76A4-AFE2-4D4B-A7D2-EB967532E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257925"/>
            <a:ext cx="4000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 i="0">
                <a:solidFill>
                  <a:srgbClr val="F8F2E8">
                    <a:alpha val="62000"/>
                  </a:srgbClr>
                </a:solidFill>
                <a:latin typeface="Arial"/>
                <a:ea typeface="Arial"/>
                <a:cs typeface="Arial"/>
              </a:defRPr>
            </a:pPr>
            <a: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16711088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e0d121186e4752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950DAD-36C4-403A-B27B-9F246D850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8001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1C"/>
          </a:solidFill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133142-4609-475E-9BBE-B1BA15980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323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A66A"/>
          </a:solidFill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35468B-C1E9-4307-A590-7122EFF6F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24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C8A66A"/>
                </a:solidFill>
                <a:latin typeface="Arial"/>
                <a:ea typeface="Arial"/>
                <a:cs typeface="Arial"/>
              </a:defRPr>
            </a:pPr>
            <a:r>
              <a:t>ИИ-МЕНЕДЖЕР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33C02F-BB59-41C5-838C-B10B3CFAC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04900"/>
            <a:ext cx="619125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450" b="0" i="0">
                <a:solidFill>
                  <a:srgbClr val="F8F2E8"/>
                </a:solidFill>
                <a:latin typeface="Georgia"/>
                <a:ea typeface="Georgia"/>
                <a:cs typeface="Georgia"/>
              </a:defRPr>
            </a:pPr>
            <a:r>
              <a:t>ИИ-виджет отвечает, пока мастер работает руками.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6880B4-C907-4CCF-893C-DC954E11A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533400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E9E0D0"/>
                </a:solidFill>
                <a:latin typeface="Arial"/>
                <a:ea typeface="Arial"/>
                <a:cs typeface="Arial"/>
              </a:defRPr>
            </a:pPr>
            <a:r>
              <a:t>Он может принять первичный вопрос, объяснить услуги, предложить запись, напомнить об оплате и отправить уведомление в Telegram.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AB0A58-F470-48AB-A6B9-EBB46298C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67150"/>
            <a:ext cx="2095500" cy="10668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8F2E8">
              <a:alpha val="8000"/>
            </a:srgbClr>
          </a:solidFill>
          <a:ln xmlns:a="http://schemas.openxmlformats.org/drawingml/2006/main" w="9525">
            <a:solidFill>
              <a:srgbClr val="F8F2E8">
                <a:alpha val="1800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FFAAE2-F0D6-4627-9D41-FA5308410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76700"/>
            <a:ext cx="16383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F8F2E8"/>
                </a:solidFill>
                <a:latin typeface="Arial"/>
                <a:ea typeface="Arial"/>
                <a:cs typeface="Arial"/>
              </a:defRPr>
            </a:pPr>
            <a:r>
              <a:t>Ответ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F84A44-93B6-4D34-B40D-BB974E966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495800"/>
            <a:ext cx="16383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DFD4C3"/>
                </a:solidFill>
                <a:latin typeface="Arial"/>
                <a:ea typeface="Arial"/>
                <a:cs typeface="Arial"/>
              </a:defRPr>
            </a:pPr>
            <a:r>
              <a:t>не теряем клиента вечером или между сеансами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4F16EC-EE70-4AEE-BEB2-BEA3A0E86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67150"/>
            <a:ext cx="2095500" cy="10668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8F2E8">
              <a:alpha val="8000"/>
            </a:srgbClr>
          </a:solidFill>
          <a:ln xmlns:a="http://schemas.openxmlformats.org/drawingml/2006/main" w="9525">
            <a:solidFill>
              <a:srgbClr val="F8F2E8">
                <a:alpha val="1800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F9E232-4620-4D04-8E3A-F7F036738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076700"/>
            <a:ext cx="16383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F8F2E8"/>
                </a:solidFill>
                <a:latin typeface="Arial"/>
                <a:ea typeface="Arial"/>
                <a:cs typeface="Arial"/>
              </a:defRPr>
            </a:pPr>
            <a:r>
              <a:t>Запись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37D26DE-D04B-4E0E-ABFA-3DF5CCCE8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495800"/>
            <a:ext cx="16383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DFD4C3"/>
                </a:solidFill>
                <a:latin typeface="Arial"/>
                <a:ea typeface="Arial"/>
                <a:cs typeface="Arial"/>
              </a:defRPr>
            </a:pPr>
            <a:r>
              <a:t>ведём к выбору услуги, даты и времени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8A7633B-1534-4E1E-B7D4-4D1CB1199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867150"/>
            <a:ext cx="2095500" cy="10668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8F2E8">
              <a:alpha val="8000"/>
            </a:srgbClr>
          </a:solidFill>
          <a:ln xmlns:a="http://schemas.openxmlformats.org/drawingml/2006/main" w="9525">
            <a:solidFill>
              <a:srgbClr val="F8F2E8">
                <a:alpha val="1800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84AD88C-BD1A-4F46-B364-DE5D380FD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4076700"/>
            <a:ext cx="16383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F8F2E8"/>
                </a:solidFill>
                <a:latin typeface="Arial"/>
                <a:ea typeface="Arial"/>
                <a:cs typeface="Arial"/>
              </a:defRPr>
            </a:pPr>
            <a:r>
              <a:t>Уведомление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8B8EC3C-A8F4-4B3B-828C-BAB4744C6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4495800"/>
            <a:ext cx="16383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DFD4C3"/>
                </a:solidFill>
                <a:latin typeface="Arial"/>
                <a:ea typeface="Arial"/>
                <a:cs typeface="Arial"/>
              </a:defRPr>
            </a:pPr>
            <a:r>
              <a:t>мастер видит заявку и оплату сразу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CEE10AD-F84F-4706-8A81-382610739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62700"/>
            <a:ext cx="495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A66A">
              <a:alpha val="65000"/>
            </a:srgbClr>
          </a:solidFill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0E4658E-95A9-4223-8E2D-24633037C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6257925"/>
            <a:ext cx="4762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F8F2E8">
                    <a:alpha val="62000"/>
                  </a:srgbClr>
                </a:solidFill>
                <a:latin typeface="Arial"/>
                <a:ea typeface="Arial"/>
                <a:cs typeface="Arial"/>
              </a:defRPr>
            </a:pPr>
            <a:r>
              <a:t>Женя массажист / сайт как система записи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620EE5C-C87E-4BE4-A3D5-FDC611E3E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257925"/>
            <a:ext cx="4000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 i="0">
                <a:solidFill>
                  <a:srgbClr val="F8F2E8">
                    <a:alpha val="62000"/>
                  </a:srgbClr>
                </a:solidFill>
                <a:latin typeface="Arial"/>
                <a:ea typeface="Arial"/>
                <a:cs typeface="Arial"/>
              </a:defRPr>
            </a:pPr>
            <a: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451164659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33A7DF9-BD4B-4C32-8C2B-BB764FD51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1C"/>
          </a:solidFill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992089-522F-48AE-B4C4-191A43FC3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323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A66A"/>
          </a:solidFill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64301B-A9CB-4812-A2FB-86D05849B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3340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C8A66A"/>
                </a:solidFill>
                <a:latin typeface="Arial"/>
                <a:ea typeface="Arial"/>
                <a:cs typeface="Arial"/>
              </a:defRPr>
            </a:pPr>
            <a:r>
              <a:t>ВОСПРИЯТИЕ ЦЕНЫ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FFFFCA-CCD8-407E-A8C7-00C6082BF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723900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450" b="0" i="0">
                <a:solidFill>
                  <a:srgbClr val="F8F2E8"/>
                </a:solidFill>
                <a:latin typeface="Georgia"/>
                <a:ea typeface="Georgia"/>
                <a:cs typeface="Georgia"/>
              </a:defRPr>
            </a:pPr>
            <a:r>
              <a:t>Хороший сайт делает мастера дороже ещё до первого сеанса.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826B3E-69DD-4CC2-B2F1-9AD5B25F3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590550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E9E0D0"/>
                </a:solidFill>
                <a:latin typeface="Arial"/>
                <a:ea typeface="Arial"/>
                <a:cs typeface="Arial"/>
              </a:defRPr>
            </a:pPr>
            <a:r>
              <a:t>Люди покупают не только массаж. Они покупают безопасность, уверенность и ощущение, что попали к профессионалу.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F025BB-0792-4E34-AD20-C9888D9FD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295650"/>
            <a:ext cx="3048000" cy="1619250"/>
          </a:xfrm>
          <a:prstGeom xmlns:a="http://schemas.openxmlformats.org/drawingml/2006/main" prst="roundRect">
            <a:avLst>
              <a:gd name="adj" fmla="val 9412"/>
            </a:avLst>
          </a:prstGeom>
          <a:solidFill xmlns:a="http://schemas.openxmlformats.org/drawingml/2006/main">
            <a:srgbClr val="F8F2E8">
              <a:alpha val="6000"/>
            </a:srgbClr>
          </a:solidFill>
          <a:ln xmlns:a="http://schemas.openxmlformats.org/drawingml/2006/main" w="9525">
            <a:solidFill>
              <a:srgbClr val="F8F2E8">
                <a:alpha val="1400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FA5CCB-985D-4727-AF19-D2F23102B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562350"/>
            <a:ext cx="22860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0" i="0">
                <a:solidFill>
                  <a:srgbClr val="D7C6A6"/>
                </a:solidFill>
                <a:latin typeface="Georgia"/>
                <a:ea typeface="Georgia"/>
                <a:cs typeface="Georgia"/>
              </a:defRPr>
            </a:pPr>
            <a:r>
              <a:t>Без сайта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02CF10-DB6D-44EA-94DC-71604699A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095750"/>
            <a:ext cx="22860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D8CCBA"/>
                </a:solidFill>
                <a:latin typeface="Arial"/>
                <a:ea typeface="Arial"/>
                <a:cs typeface="Arial"/>
              </a:defRPr>
            </a:pPr>
            <a:r>
              <a:t>цены приходится объяснять в чате</a:t>
            </a:r>
          </a:p>
          <a:p xmlns:a="http://schemas.openxmlformats.org/drawingml/2006/main">
            <a:pPr algn="l">
              <a:defRPr sz="1200" b="0" i="0">
                <a:solidFill>
                  <a:srgbClr val="D8CCBA"/>
                </a:solidFill>
                <a:latin typeface="Arial"/>
                <a:ea typeface="Arial"/>
                <a:cs typeface="Arial"/>
              </a:defRPr>
            </a:pPr>
            <a:r>
              <a:t>доверие строится вручную</a:t>
            </a:r>
          </a:p>
          <a:p xmlns:a="http://schemas.openxmlformats.org/drawingml/2006/main">
            <a:pPr algn="l">
              <a:defRPr sz="1200" b="0" i="0">
                <a:solidFill>
                  <a:srgbClr val="D8CCBA"/>
                </a:solidFill>
                <a:latin typeface="Arial"/>
                <a:ea typeface="Arial"/>
                <a:cs typeface="Arial"/>
              </a:defRPr>
            </a:pPr>
            <a:r>
              <a:t>клиент сравнивает только стоимость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FB3F72-F9A0-4CA6-AC8F-366BE95F1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952750"/>
            <a:ext cx="3619500" cy="2190750"/>
          </a:xfrm>
          <a:prstGeom xmlns:a="http://schemas.openxmlformats.org/drawingml/2006/main" prst="roundRect">
            <a:avLst>
              <a:gd name="adj" fmla="val 9565"/>
            </a:avLst>
          </a:prstGeom>
          <a:solidFill xmlns:a="http://schemas.openxmlformats.org/drawingml/2006/main">
            <a:srgbClr val="C8A66A">
              <a:alpha val="15000"/>
            </a:srgbClr>
          </a:solidFill>
          <a:ln xmlns:a="http://schemas.openxmlformats.org/drawingml/2006/main" w="9525">
            <a:solidFill>
              <a:srgbClr val="C8A66A">
                <a:alpha val="5600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A6CA55-B3FB-46E0-A539-FFB0C4A92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3257550"/>
            <a:ext cx="28575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0" i="0">
                <a:solidFill>
                  <a:srgbClr val="FFE4A9"/>
                </a:solidFill>
                <a:latin typeface="Georgia"/>
                <a:ea typeface="Georgia"/>
                <a:cs typeface="Georgia"/>
              </a:defRPr>
            </a:pPr>
            <a:r>
              <a:t>С сайтом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AC1843-702B-4563-9611-FE5CEBB6D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886200"/>
            <a:ext cx="278130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F3E8D8"/>
                </a:solidFill>
                <a:latin typeface="Arial"/>
                <a:ea typeface="Arial"/>
                <a:cs typeface="Arial"/>
              </a:defRPr>
            </a:pPr>
            <a:r>
              <a:t>упаковка выглядит профессионально</a:t>
            </a:r>
          </a:p>
          <a:p xmlns:a="http://schemas.openxmlformats.org/drawingml/2006/main">
            <a:pPr algn="l">
              <a:defRPr sz="1350" b="0" i="0">
                <a:solidFill>
                  <a:srgbClr val="F3E8D8"/>
                </a:solidFill>
                <a:latin typeface="Arial"/>
                <a:ea typeface="Arial"/>
                <a:cs typeface="Arial"/>
              </a:defRPr>
            </a:pPr>
            <a:r>
              <a:t>услуги и ценность понятны заранее</a:t>
            </a:r>
          </a:p>
          <a:p xmlns:a="http://schemas.openxmlformats.org/drawingml/2006/main">
            <a:pPr algn="l">
              <a:defRPr sz="1350" b="0" i="0">
                <a:solidFill>
                  <a:srgbClr val="F3E8D8"/>
                </a:solidFill>
                <a:latin typeface="Arial"/>
                <a:ea typeface="Arial"/>
                <a:cs typeface="Arial"/>
              </a:defRPr>
            </a:pPr>
            <a:r>
              <a:t>запись ощущается как серьёзный сервис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3DE496-9696-4B05-9282-92580D1E3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295650"/>
            <a:ext cx="2095500" cy="1619250"/>
          </a:xfrm>
          <a:prstGeom xmlns:a="http://schemas.openxmlformats.org/drawingml/2006/main" prst="roundRect">
            <a:avLst>
              <a:gd name="adj" fmla="val 9412"/>
            </a:avLst>
          </a:prstGeom>
          <a:solidFill xmlns:a="http://schemas.openxmlformats.org/drawingml/2006/main">
            <a:srgbClr val="6F8B6B">
              <a:alpha val="18000"/>
            </a:srgbClr>
          </a:solidFill>
          <a:ln xmlns:a="http://schemas.openxmlformats.org/drawingml/2006/main" w="9525">
            <a:solidFill>
              <a:srgbClr val="B9C8A9">
                <a:alpha val="3800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153D7A-CAE8-4798-95BC-26F3FD53F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562350"/>
            <a:ext cx="1428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0" i="0">
                <a:solidFill>
                  <a:srgbClr val="DCE8D0"/>
                </a:solidFill>
                <a:latin typeface="Georgia"/>
                <a:ea typeface="Georgia"/>
                <a:cs typeface="Georgia"/>
              </a:defRPr>
            </a:pPr>
            <a:r>
              <a:t>Итог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172A89-0C41-4DC0-A3DC-05D075B76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4095750"/>
            <a:ext cx="135255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E6F0DC"/>
                </a:solidFill>
                <a:latin typeface="Arial"/>
                <a:ea typeface="Arial"/>
                <a:cs typeface="Arial"/>
              </a:defRPr>
            </a:pPr>
            <a:r>
              <a:t>клиент приходит теплее и легче соглашается на нормальную цену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13E2BFF-32B6-43ED-BB61-503DDE30D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62700"/>
            <a:ext cx="495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A66A">
              <a:alpha val="65000"/>
            </a:srgbClr>
          </a:solidFill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2927399-096B-4500-BF1B-475AB2C72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6257925"/>
            <a:ext cx="4762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F8F2E8">
                    <a:alpha val="62000"/>
                  </a:srgbClr>
                </a:solidFill>
                <a:latin typeface="Arial"/>
                <a:ea typeface="Arial"/>
                <a:cs typeface="Arial"/>
              </a:defRPr>
            </a:pPr>
            <a:r>
              <a:t>Женя массажист / сайт как система записи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237EF6F-BD78-4DE7-83D1-92DE589DD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257925"/>
            <a:ext cx="4000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 i="0">
                <a:solidFill>
                  <a:srgbClr val="F8F2E8">
                    <a:alpha val="62000"/>
                  </a:srgbClr>
                </a:solidFill>
                <a:latin typeface="Arial"/>
                <a:ea typeface="Arial"/>
                <a:cs typeface="Arial"/>
              </a:defRPr>
            </a:pPr>
            <a: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305082652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E7BDF5A-93E8-44E1-970E-A777BF386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1C"/>
          </a:solidFill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D61A68-8C6E-4A2A-ADD9-A9DE5C6E5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323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A66A"/>
          </a:solidFill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EC8E59-D5F9-4BF4-934D-755DF6576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3340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C8A66A"/>
                </a:solidFill>
                <a:latin typeface="Arial"/>
                <a:ea typeface="Arial"/>
                <a:cs typeface="Arial"/>
              </a:defRPr>
            </a:pPr>
            <a:r>
              <a:t>РОСТ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E8A19F-D8F0-42D0-A501-95146D4BB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6953250" cy="1028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450" b="0" i="0">
                <a:solidFill>
                  <a:srgbClr val="F8F2E8"/>
                </a:solidFill>
                <a:latin typeface="Georgia"/>
                <a:ea typeface="Georgia"/>
                <a:cs typeface="Georgia"/>
              </a:defRPr>
            </a:pPr>
            <a:r>
              <a:t>Сайт собирает бизнес в цикл, который можно усиливать.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CEA3DB-DE8E-4217-AAC0-3354F2462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95500"/>
            <a:ext cx="57150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E9E0D0"/>
                </a:solidFill>
                <a:latin typeface="Arial"/>
                <a:ea typeface="Arial"/>
                <a:cs typeface="Arial"/>
              </a:defRPr>
            </a:pPr>
            <a:r>
              <a:t>Это не одноразовая страница. Это место, где реклама, рекомендации, контент, запись и повторные визиты начинают работать вместе.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129825-D6CA-4EE9-81D8-B80BA7209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857500"/>
            <a:ext cx="1428750" cy="609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8F2E8">
              <a:alpha val="8000"/>
            </a:srgbClr>
          </a:solidFill>
          <a:ln xmlns:a="http://schemas.openxmlformats.org/drawingml/2006/main" w="9525">
            <a:solidFill>
              <a:srgbClr val="F8F2E8">
                <a:alpha val="1800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BFC962-FC5B-4A8F-B3F7-B5C12BB97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3048000"/>
            <a:ext cx="11620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F8F2E8"/>
                </a:solidFill>
                <a:latin typeface="Arial"/>
                <a:ea typeface="Arial"/>
                <a:cs typeface="Arial"/>
              </a:defRPr>
            </a:pPr>
            <a:r>
              <a:t>Трафик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8D517A-5045-4376-8504-79F811BCB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676650"/>
            <a:ext cx="1428750" cy="609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8F2E8">
              <a:alpha val="8000"/>
            </a:srgbClr>
          </a:solidFill>
          <a:ln xmlns:a="http://schemas.openxmlformats.org/drawingml/2006/main" w="9525">
            <a:solidFill>
              <a:srgbClr val="F8F2E8">
                <a:alpha val="1800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622507-6098-46C0-93E0-6431DF164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867150"/>
            <a:ext cx="11620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F8F2E8"/>
                </a:solidFill>
                <a:latin typeface="Arial"/>
                <a:ea typeface="Arial"/>
                <a:cs typeface="Arial"/>
              </a:defRPr>
            </a:pPr>
            <a:r>
              <a:t>Доверие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3B7046-4A48-4C1C-8C90-40393E946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143500"/>
            <a:ext cx="1428750" cy="609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8A66A">
              <a:alpha val="22000"/>
            </a:srgbClr>
          </a:solidFill>
          <a:ln xmlns:a="http://schemas.openxmlformats.org/drawingml/2006/main" w="9525">
            <a:solidFill>
              <a:srgbClr val="C8A66A">
                <a:alpha val="7000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568973B-2B10-447B-94D2-B75188936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334000"/>
            <a:ext cx="11620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FFE4A9"/>
                </a:solidFill>
                <a:latin typeface="Arial"/>
                <a:ea typeface="Arial"/>
                <a:cs typeface="Arial"/>
              </a:defRPr>
            </a:pPr>
            <a:r>
              <a:t>Запись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0D6546-2C92-4909-8E8D-F9795E2B0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143500"/>
            <a:ext cx="1428750" cy="609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8F2E8">
              <a:alpha val="8000"/>
            </a:srgbClr>
          </a:solidFill>
          <a:ln xmlns:a="http://schemas.openxmlformats.org/drawingml/2006/main" w="9525">
            <a:solidFill>
              <a:srgbClr val="F8F2E8">
                <a:alpha val="1800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18EE35-651B-4319-A969-95258BA00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5334000"/>
            <a:ext cx="11620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F8F2E8"/>
                </a:solidFill>
                <a:latin typeface="Arial"/>
                <a:ea typeface="Arial"/>
                <a:cs typeface="Arial"/>
              </a:defRPr>
            </a:pPr>
            <a:r>
              <a:t>Оплата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C0F26C-96CF-44AA-A31E-BA9E86107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676650"/>
            <a:ext cx="1428750" cy="609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8F2E8">
              <a:alpha val="8000"/>
            </a:srgbClr>
          </a:solidFill>
          <a:ln xmlns:a="http://schemas.openxmlformats.org/drawingml/2006/main" w="9525">
            <a:solidFill>
              <a:srgbClr val="F8F2E8">
                <a:alpha val="1800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E33C4B-4EF3-4A38-8950-2BF796323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867150"/>
            <a:ext cx="11620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F8F2E8"/>
                </a:solidFill>
                <a:latin typeface="Arial"/>
                <a:ea typeface="Arial"/>
                <a:cs typeface="Arial"/>
              </a:defRPr>
            </a:pPr>
            <a:r>
              <a:t>Повтор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86E0019-9796-47FF-9832-E80E62DBB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943350"/>
            <a:ext cx="990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A66A">
              <a:alpha val="68000"/>
            </a:srgbClr>
          </a:solidFill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32D1DB6-373B-496A-8DB0-3A9C9AB6E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94335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A66A">
              <a:alpha val="68000"/>
            </a:srgbClr>
          </a:solidFill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E6D24C1-7C17-4363-9CDA-5E94720B3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5448300"/>
            <a:ext cx="1676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A66A">
              <a:alpha val="68000"/>
            </a:srgbClr>
          </a:solidFill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5858E43-391C-4447-B278-5A8614598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876800"/>
            <a:ext cx="800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A66A">
              <a:alpha val="68000"/>
            </a:srgbClr>
          </a:solidFill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AD3292C-9632-44DF-9CCD-5D72FAA68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371850"/>
            <a:ext cx="2114550" cy="1238250"/>
          </a:xfrm>
          <a:prstGeom xmlns:a="http://schemas.openxmlformats.org/drawingml/2006/main" prst="roundRect">
            <a:avLst>
              <a:gd name="adj" fmla="val 12308"/>
            </a:avLst>
          </a:prstGeom>
          <a:solidFill xmlns:a="http://schemas.openxmlformats.org/drawingml/2006/main">
            <a:srgbClr val="F8F2E8">
              <a:alpha val="8000"/>
            </a:srgbClr>
          </a:solidFill>
          <a:ln xmlns:a="http://schemas.openxmlformats.org/drawingml/2006/main" w="9525">
            <a:solidFill>
              <a:srgbClr val="F8F2E8">
                <a:alpha val="1600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894088C-0FF8-4EBC-9F99-63B80EE45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638550"/>
            <a:ext cx="1619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F8F2E8"/>
                </a:solidFill>
                <a:latin typeface="Arial"/>
                <a:ea typeface="Arial"/>
                <a:cs typeface="Arial"/>
              </a:defRPr>
            </a:pPr>
            <a:r>
              <a:t>Что можно измерять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67F0D52-B8C6-4F09-9B59-75E434C79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038600"/>
            <a:ext cx="16192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D8CCBA"/>
                </a:solidFill>
                <a:latin typeface="Arial"/>
                <a:ea typeface="Arial"/>
                <a:cs typeface="Arial"/>
              </a:defRPr>
            </a:pPr>
            <a:r>
              <a:t>заявки</a:t>
            </a:r>
          </a:p>
          <a:p xmlns:a="http://schemas.openxmlformats.org/drawingml/2006/main">
            <a:pPr algn="l">
              <a:defRPr sz="1125" b="0" i="0">
                <a:solidFill>
                  <a:srgbClr val="D8CCBA"/>
                </a:solidFill>
                <a:latin typeface="Arial"/>
                <a:ea typeface="Arial"/>
                <a:cs typeface="Arial"/>
              </a:defRPr>
            </a:pPr>
            <a:r>
              <a:t>стоимость записи</a:t>
            </a:r>
          </a:p>
          <a:p xmlns:a="http://schemas.openxmlformats.org/drawingml/2006/main">
            <a:pPr algn="l">
              <a:defRPr sz="1125" b="0" i="0">
                <a:solidFill>
                  <a:srgbClr val="D8CCBA"/>
                </a:solidFill>
                <a:latin typeface="Arial"/>
                <a:ea typeface="Arial"/>
                <a:cs typeface="Arial"/>
              </a:defRPr>
            </a:pPr>
            <a:r>
              <a:t>оплаты</a:t>
            </a:r>
          </a:p>
          <a:p xmlns:a="http://schemas.openxmlformats.org/drawingml/2006/main">
            <a:pPr algn="l">
              <a:defRPr sz="1125" b="0" i="0">
                <a:solidFill>
                  <a:srgbClr val="D8CCBA"/>
                </a:solidFill>
                <a:latin typeface="Arial"/>
                <a:ea typeface="Arial"/>
                <a:cs typeface="Arial"/>
              </a:defRPr>
            </a:pPr>
            <a:r>
              <a:t>повторные визиты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D677C5D-F5A8-4969-A4D3-477C9921F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62700"/>
            <a:ext cx="495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A66A">
              <a:alpha val="65000"/>
            </a:srgbClr>
          </a:solidFill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B88E8A1-CD5A-439D-B4DC-AC9F93478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6257925"/>
            <a:ext cx="4762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F8F2E8">
                    <a:alpha val="62000"/>
                  </a:srgbClr>
                </a:solidFill>
                <a:latin typeface="Arial"/>
                <a:ea typeface="Arial"/>
                <a:cs typeface="Arial"/>
              </a:defRPr>
            </a:pPr>
            <a:r>
              <a:t>Женя массажист / сайт как система записи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85E42B9-E6BA-4804-BFA1-87971600F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257925"/>
            <a:ext cx="4000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 i="0">
                <a:solidFill>
                  <a:srgbClr val="F8F2E8">
                    <a:alpha val="62000"/>
                  </a:srgbClr>
                </a:solidFill>
                <a:latin typeface="Arial"/>
                <a:ea typeface="Arial"/>
                <a:cs typeface="Arial"/>
              </a:defRPr>
            </a:pPr>
            <a: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293767474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2F96D4E-6ACE-4864-8ECA-EA2FAA9F6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1C"/>
          </a:solidFill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DD3EFB-612A-4737-9715-0BB9BE041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323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A66A"/>
          </a:solidFill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4A0AFE-C2C4-4355-B269-562876183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3340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C8A66A"/>
                </a:solidFill>
                <a:latin typeface="Arial"/>
                <a:ea typeface="Arial"/>
                <a:cs typeface="Arial"/>
              </a:defRPr>
            </a:pPr>
            <a:r>
              <a:t>СЛЕДУЮЩИЙ ШАГ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FD8E7F-AE0E-46F4-BE3E-9FA7653B4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781050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450" b="0" i="0">
                <a:solidFill>
                  <a:srgbClr val="F8F2E8"/>
                </a:solidFill>
                <a:latin typeface="Georgia"/>
                <a:ea typeface="Georgia"/>
                <a:cs typeface="Georgia"/>
              </a:defRPr>
            </a:pPr>
            <a:r>
              <a:t>Запуск можно сделать спокойно: сначала база, потом автоматизация.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E71CC9-9E44-452D-957E-F1FF051D7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590550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E9E0D0"/>
                </a:solidFill>
                <a:latin typeface="Arial"/>
                <a:ea typeface="Arial"/>
                <a:cs typeface="Arial"/>
              </a:defRPr>
            </a:pPr>
            <a:r>
              <a:t>Не нужно строить большой портал. Нужна аккуратная система, которая уже в первой версии помогает записывать клиентов.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913C0C-9E55-442D-BEF1-ECFD12A81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6576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A66A">
              <a:alpha val="45000"/>
            </a:srgbClr>
          </a:solidFill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F650BD-C03D-407A-A1B6-2E6C4ECD0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371850"/>
            <a:ext cx="552450" cy="552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8A66A">
              <a:alpha val="18000"/>
            </a:srgbClr>
          </a:solidFill>
          <a:ln xmlns:a="http://schemas.openxmlformats.org/drawingml/2006/main" w="9525">
            <a:solidFill>
              <a:srgbClr val="C8A66A">
                <a:alpha val="6500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D17876-9CCA-479D-9F06-C887F01CF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52825"/>
            <a:ext cx="5524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C8A66A"/>
                </a:solidFill>
                <a:latin typeface="Arial"/>
                <a:ea typeface="Arial"/>
                <a:cs typeface="Arial"/>
              </a:defRPr>
            </a:pPr>
            <a: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201B07-E670-440C-A191-E382BD275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29100"/>
            <a:ext cx="14287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F8F2E8"/>
                </a:solidFill>
                <a:latin typeface="Arial"/>
                <a:ea typeface="Arial"/>
                <a:cs typeface="Arial"/>
              </a:defRPr>
            </a:pPr>
            <a:r>
              <a:t>Упаковать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309E7D-6DAF-4A78-8F5C-FB415BC4A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591050"/>
            <a:ext cx="15811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 i="0">
                <a:solidFill>
                  <a:srgbClr val="D9CEBE"/>
                </a:solidFill>
                <a:latin typeface="Arial"/>
                <a:ea typeface="Arial"/>
                <a:cs typeface="Arial"/>
              </a:defRPr>
            </a:pPr>
            <a:r>
              <a:t>услуги, фото, тексты, цены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A16FEE-081B-42BF-8B71-DE22A0C95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3371850"/>
            <a:ext cx="552450" cy="552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8A66A">
              <a:alpha val="18000"/>
            </a:srgbClr>
          </a:solidFill>
          <a:ln xmlns:a="http://schemas.openxmlformats.org/drawingml/2006/main" w="9525">
            <a:solidFill>
              <a:srgbClr val="C8A66A">
                <a:alpha val="6500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6C254E-F1E3-4C05-AFA4-307CD59D5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3552825"/>
            <a:ext cx="5524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C8A66A"/>
                </a:solidFill>
                <a:latin typeface="Arial"/>
                <a:ea typeface="Arial"/>
                <a:cs typeface="Arial"/>
              </a:defRPr>
            </a:pPr>
            <a: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774ABF-EBC5-4039-86EF-DE725F1F9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229100"/>
            <a:ext cx="14287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F8F2E8"/>
                </a:solidFill>
                <a:latin typeface="Arial"/>
                <a:ea typeface="Arial"/>
                <a:cs typeface="Arial"/>
              </a:defRPr>
            </a:pPr>
            <a:r>
              <a:t>Запустить запись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8F919E4-9CA6-4EA5-83B0-01B002040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591050"/>
            <a:ext cx="15811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 i="0">
                <a:solidFill>
                  <a:srgbClr val="D9CEBE"/>
                </a:solidFill>
                <a:latin typeface="Arial"/>
                <a:ea typeface="Arial"/>
                <a:cs typeface="Arial"/>
              </a:defRPr>
            </a:pPr>
            <a:r>
              <a:t>форма, календарь, уведомления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7DB6AA-B91E-41F5-A764-A76EE8045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371850"/>
            <a:ext cx="552450" cy="552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8A66A">
              <a:alpha val="18000"/>
            </a:srgbClr>
          </a:solidFill>
          <a:ln xmlns:a="http://schemas.openxmlformats.org/drawingml/2006/main" w="9525">
            <a:solidFill>
              <a:srgbClr val="C8A66A">
                <a:alpha val="6500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AEC591-05A5-4C30-A028-5D6621FAA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552825"/>
            <a:ext cx="5524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C8A66A"/>
                </a:solidFill>
                <a:latin typeface="Arial"/>
                <a:ea typeface="Arial"/>
                <a:cs typeface="Arial"/>
              </a:defRPr>
            </a:pPr>
            <a: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245D490-5C3B-4EFA-9F97-A8FB220C0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229100"/>
            <a:ext cx="14287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F8F2E8"/>
                </a:solidFill>
                <a:latin typeface="Arial"/>
                <a:ea typeface="Arial"/>
                <a:cs typeface="Arial"/>
              </a:defRPr>
            </a:pPr>
            <a:r>
              <a:t>Подключить оплату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BB0970-87CC-4302-AAF9-A9FB850A1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591050"/>
            <a:ext cx="15811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 i="0">
                <a:solidFill>
                  <a:srgbClr val="D9CEBE"/>
                </a:solidFill>
                <a:latin typeface="Arial"/>
                <a:ea typeface="Arial"/>
                <a:cs typeface="Arial"/>
              </a:defRPr>
            </a:pPr>
            <a:r>
              <a:t>предоплата или полная оплата онлайн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CC4A25B-E761-4BDA-920C-21ECD22FE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371850"/>
            <a:ext cx="552450" cy="552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8A66A">
              <a:alpha val="18000"/>
            </a:srgbClr>
          </a:solidFill>
          <a:ln xmlns:a="http://schemas.openxmlformats.org/drawingml/2006/main" w="9525">
            <a:solidFill>
              <a:srgbClr val="C8A66A">
                <a:alpha val="6500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95CD6FA-95F2-4310-B0C7-FA4F673B2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552825"/>
            <a:ext cx="5524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C8A66A"/>
                </a:solidFill>
                <a:latin typeface="Arial"/>
                <a:ea typeface="Arial"/>
                <a:cs typeface="Arial"/>
              </a:defRPr>
            </a:pPr>
            <a: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8AF929F-EA6D-48AE-88D0-B6E1FE95E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229100"/>
            <a:ext cx="14287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F8F2E8"/>
                </a:solidFill>
                <a:latin typeface="Arial"/>
                <a:ea typeface="Arial"/>
                <a:cs typeface="Arial"/>
              </a:defRPr>
            </a:pPr>
            <a:r>
              <a:t>Дать трафик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C589DCF-3188-46CC-8649-D8FF2AAB8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591050"/>
            <a:ext cx="15811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 i="0">
                <a:solidFill>
                  <a:srgbClr val="D9CEBE"/>
                </a:solidFill>
                <a:latin typeface="Arial"/>
                <a:ea typeface="Arial"/>
                <a:cs typeface="Arial"/>
              </a:defRPr>
            </a:pPr>
            <a:r>
              <a:t>Яндекс, гео, Telegram-ссылка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9BC550D-C447-4D38-BE53-036FAED52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371850"/>
            <a:ext cx="552450" cy="552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8A66A">
              <a:alpha val="18000"/>
            </a:srgbClr>
          </a:solidFill>
          <a:ln xmlns:a="http://schemas.openxmlformats.org/drawingml/2006/main" w="9525">
            <a:solidFill>
              <a:srgbClr val="C8A66A">
                <a:alpha val="6500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48A4422-2C39-43E3-A6ED-CAD77A0EB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552825"/>
            <a:ext cx="5524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C8A66A"/>
                </a:solidFill>
                <a:latin typeface="Arial"/>
                <a:ea typeface="Arial"/>
                <a:cs typeface="Arial"/>
              </a:defRPr>
            </a:pPr>
            <a:r>
              <a:t>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CF5257B-ABDD-477D-9C58-42A98E582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229100"/>
            <a:ext cx="14287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F8F2E8"/>
                </a:solidFill>
                <a:latin typeface="Arial"/>
                <a:ea typeface="Arial"/>
                <a:cs typeface="Arial"/>
              </a:defRPr>
            </a:pPr>
            <a:r>
              <a:t>Дожимать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7C23E46-DEB7-4E18-A51F-8EB1A109A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591050"/>
            <a:ext cx="15811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 i="0">
                <a:solidFill>
                  <a:srgbClr val="D9CEBE"/>
                </a:solidFill>
                <a:latin typeface="Arial"/>
                <a:ea typeface="Arial"/>
                <a:cs typeface="Arial"/>
              </a:defRPr>
            </a:pPr>
            <a:r>
              <a:t>ИИ-виджет, напоминания, повторы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73AE1BD-41D3-45C3-B3A0-9AF0821ED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5505450"/>
            <a:ext cx="3238500" cy="457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8F2E8">
              <a:alpha val="8000"/>
            </a:srgbClr>
          </a:solidFill>
          <a:ln xmlns:a="http://schemas.openxmlformats.org/drawingml/2006/main" w="9525">
            <a:solidFill>
              <a:srgbClr val="F8F2E8">
                <a:alpha val="1600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7D89742-E62C-4D76-8A9F-437D73D18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5638800"/>
            <a:ext cx="27432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F3E8D8"/>
                </a:solidFill>
                <a:latin typeface="Arial"/>
                <a:ea typeface="Arial"/>
                <a:cs typeface="Arial"/>
              </a:defRPr>
            </a:pPr>
            <a:r>
              <a:t>Итог: сайт становится администратором, рекламной посадочной и витриной доверия одновременно.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F15FE2D-479C-4F93-892B-334E74171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62700"/>
            <a:ext cx="495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A66A">
              <a:alpha val="65000"/>
            </a:srgbClr>
          </a:solidFill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0156B59-0F3B-4780-BC3C-AD4462F9A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6257925"/>
            <a:ext cx="4762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F8F2E8">
                    <a:alpha val="62000"/>
                  </a:srgbClr>
                </a:solidFill>
                <a:latin typeface="Arial"/>
                <a:ea typeface="Arial"/>
                <a:cs typeface="Arial"/>
              </a:defRPr>
            </a:pPr>
            <a:r>
              <a:t>Женя массажист / сайт как система записи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C2B1528-F54E-4BE3-8430-C235439A5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257925"/>
            <a:ext cx="4000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 i="0">
                <a:solidFill>
                  <a:srgbClr val="F8F2E8">
                    <a:alpha val="62000"/>
                  </a:srgbClr>
                </a:solidFill>
                <a:latin typeface="Arial"/>
                <a:ea typeface="Arial"/>
                <a:cs typeface="Arial"/>
              </a:defRPr>
            </a:pPr>
            <a: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30703056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2026-05-31T12:53:03.9850000Z</dcterms:created>
  <dcterms:modified xsi:type="dcterms:W3CDTF">2026-05-31T12:53:03.9850000Z</dcterms:modified>
</coreProperties>
</file>